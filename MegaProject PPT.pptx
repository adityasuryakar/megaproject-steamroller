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3139" y="781304"/>
            <a:ext cx="392747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F0F0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F0F0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F0F0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F0F0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659" y="185293"/>
            <a:ext cx="4451985" cy="1294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F0F0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1739" y="3162376"/>
            <a:ext cx="8418830" cy="2221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5.jpe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12" Type="http://schemas.openxmlformats.org/officeDocument/2006/relationships/image" Target="../media/image14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11" Type="http://schemas.openxmlformats.org/officeDocument/2006/relationships/image" Target="../media/image13.jpg"/><Relationship Id="rId5" Type="http://schemas.openxmlformats.org/officeDocument/2006/relationships/image" Target="../media/image7.jpg"/><Relationship Id="rId10" Type="http://schemas.openxmlformats.org/officeDocument/2006/relationships/image" Target="../media/image12.jpg"/><Relationship Id="rId4" Type="http://schemas.openxmlformats.org/officeDocument/2006/relationships/image" Target="../media/image6.jpg"/><Relationship Id="rId9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1.10223" TargetMode="External"/><Relationship Id="rId7" Type="http://schemas.openxmlformats.org/officeDocument/2006/relationships/hyperlink" Target="https://aclanthology.org/D19-1410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abs/pii/S0094730X17300931" TargetMode="External"/><Relationship Id="rId5" Type="http://schemas.openxmlformats.org/officeDocument/2006/relationships/hyperlink" Target="https://proceedings.neurips.cc/paper_files/paper/2023/hash/3eaad2a0b62b5ed7a2e66c2188bb1449-Abstract-Conference.html" TargetMode="External"/><Relationship Id="rId4" Type="http://schemas.openxmlformats.org/officeDocument/2006/relationships/hyperlink" Target="https://proceedings.mlr.press/v202/radford23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0789" y="380"/>
            <a:ext cx="209550" cy="5140960"/>
          </a:xfrm>
          <a:custGeom>
            <a:avLst/>
            <a:gdLst/>
            <a:ahLst/>
            <a:cxnLst/>
            <a:rect l="l" t="t" r="r" b="b"/>
            <a:pathLst>
              <a:path w="209550" h="5140960">
                <a:moveTo>
                  <a:pt x="209550" y="0"/>
                </a:moveTo>
                <a:lnTo>
                  <a:pt x="0" y="0"/>
                </a:lnTo>
                <a:lnTo>
                  <a:pt x="0" y="5140960"/>
                </a:lnTo>
                <a:lnTo>
                  <a:pt x="209550" y="5140960"/>
                </a:lnTo>
                <a:lnTo>
                  <a:pt x="209550" y="0"/>
                </a:lnTo>
                <a:close/>
              </a:path>
            </a:pathLst>
          </a:custGeom>
          <a:solidFill>
            <a:srgbClr val="0105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6320" y="5088128"/>
            <a:ext cx="104775" cy="1043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6320" y="5583428"/>
            <a:ext cx="104775" cy="1043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6320" y="6078728"/>
            <a:ext cx="104775" cy="10439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6320" y="6574028"/>
            <a:ext cx="104775" cy="1043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6320" y="7069328"/>
            <a:ext cx="104775" cy="10439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520823" y="2205548"/>
            <a:ext cx="6242177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9600" dirty="0">
                <a:solidFill>
                  <a:srgbClr val="17375E"/>
                </a:solidFill>
              </a:rPr>
              <a:t>Steamroller</a:t>
            </a:r>
            <a:endParaRPr sz="9600" dirty="0"/>
          </a:p>
        </p:txBody>
      </p:sp>
      <p:sp>
        <p:nvSpPr>
          <p:cNvPr id="11" name="object 11"/>
          <p:cNvSpPr txBox="1"/>
          <p:nvPr/>
        </p:nvSpPr>
        <p:spPr>
          <a:xfrm>
            <a:off x="2671064" y="4820183"/>
            <a:ext cx="14289405" cy="250253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  <a:tabLst>
                <a:tab pos="1633855" algn="l"/>
                <a:tab pos="3560445" algn="l"/>
                <a:tab pos="4567555" algn="l"/>
                <a:tab pos="7722870" algn="l"/>
                <a:tab pos="10822940" algn="l"/>
                <a:tab pos="11443335" algn="l"/>
                <a:tab pos="13107669" algn="l"/>
              </a:tabLst>
            </a:pPr>
            <a:r>
              <a:rPr sz="2800" b="1" spc="160" dirty="0">
                <a:solidFill>
                  <a:srgbClr val="0F0F0F"/>
                </a:solidFill>
                <a:latin typeface="Times New Roman"/>
                <a:cs typeface="Times New Roman"/>
              </a:rPr>
              <a:t>Problem</a:t>
            </a:r>
            <a:r>
              <a:rPr sz="2800" b="1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b="1" spc="175" dirty="0">
                <a:solidFill>
                  <a:srgbClr val="0F0F0F"/>
                </a:solidFill>
                <a:latin typeface="Times New Roman"/>
                <a:cs typeface="Times New Roman"/>
              </a:rPr>
              <a:t>Statement</a:t>
            </a:r>
            <a:r>
              <a:rPr sz="2800" b="1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b="1" spc="170" dirty="0">
                <a:solidFill>
                  <a:srgbClr val="0F0F0F"/>
                </a:solidFill>
                <a:latin typeface="Times New Roman"/>
                <a:cs typeface="Times New Roman"/>
              </a:rPr>
              <a:t>title:</a:t>
            </a:r>
            <a:r>
              <a:rPr sz="2800" b="1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spc="180" dirty="0">
                <a:solidFill>
                  <a:srgbClr val="0F0F0F"/>
                </a:solidFill>
                <a:latin typeface="Times New Roman"/>
                <a:cs typeface="Times New Roman"/>
              </a:rPr>
              <a:t>STEAMROLLER:</a:t>
            </a:r>
            <a:r>
              <a:rPr sz="2800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spc="225" dirty="0">
                <a:solidFill>
                  <a:srgbClr val="0F0F0F"/>
                </a:solidFill>
                <a:latin typeface="Times New Roman"/>
                <a:cs typeface="Times New Roman"/>
              </a:rPr>
              <a:t>Multi-</a:t>
            </a:r>
            <a:r>
              <a:rPr sz="2800" spc="170" dirty="0">
                <a:solidFill>
                  <a:srgbClr val="0F0F0F"/>
                </a:solidFill>
                <a:latin typeface="Times New Roman"/>
                <a:cs typeface="Times New Roman"/>
              </a:rPr>
              <a:t>Agent</a:t>
            </a:r>
            <a:r>
              <a:rPr sz="2800" spc="33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800" spc="110" dirty="0">
                <a:solidFill>
                  <a:srgbClr val="0F0F0F"/>
                </a:solidFill>
                <a:latin typeface="Times New Roman"/>
                <a:cs typeface="Times New Roman"/>
              </a:rPr>
              <a:t>ASR</a:t>
            </a:r>
            <a:r>
              <a:rPr sz="2800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spc="114" dirty="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sz="2800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spc="180" dirty="0">
                <a:solidFill>
                  <a:srgbClr val="0F0F0F"/>
                </a:solidFill>
                <a:latin typeface="Times New Roman"/>
                <a:cs typeface="Times New Roman"/>
              </a:rPr>
              <a:t>Stuttered</a:t>
            </a:r>
            <a:r>
              <a:rPr sz="2800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spc="165" dirty="0">
                <a:solidFill>
                  <a:srgbClr val="0F0F0F"/>
                </a:solidFill>
                <a:latin typeface="Times New Roman"/>
                <a:cs typeface="Times New Roman"/>
              </a:rPr>
              <a:t>Speech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2835275" algn="l"/>
                <a:tab pos="3103245" algn="l"/>
                <a:tab pos="4420870" algn="l"/>
                <a:tab pos="4843780" algn="l"/>
                <a:tab pos="6595745" algn="l"/>
                <a:tab pos="8545830" algn="l"/>
              </a:tabLst>
            </a:pPr>
            <a:r>
              <a:rPr sz="2800" b="1" spc="185" dirty="0">
                <a:solidFill>
                  <a:srgbClr val="0F0F0F"/>
                </a:solidFill>
                <a:latin typeface="Times New Roman"/>
                <a:cs typeface="Times New Roman"/>
              </a:rPr>
              <a:t>Theme/Domain</a:t>
            </a:r>
            <a:r>
              <a:rPr sz="2800" b="1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b="1" spc="-50" dirty="0">
                <a:solidFill>
                  <a:srgbClr val="0F0F0F"/>
                </a:solidFill>
                <a:latin typeface="Times New Roman"/>
                <a:cs typeface="Times New Roman"/>
              </a:rPr>
              <a:t>:</a:t>
            </a:r>
            <a:r>
              <a:rPr sz="2800" b="1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spc="165" dirty="0">
                <a:solidFill>
                  <a:srgbClr val="0F0F0F"/>
                </a:solidFill>
                <a:latin typeface="Times New Roman"/>
                <a:cs typeface="Times New Roman"/>
              </a:rPr>
              <a:t>Speech</a:t>
            </a:r>
            <a:r>
              <a:rPr sz="2800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0F0F0F"/>
                </a:solidFill>
                <a:latin typeface="Times New Roman"/>
                <a:cs typeface="Times New Roman"/>
              </a:rPr>
              <a:t>&amp;</a:t>
            </a:r>
            <a:r>
              <a:rPr sz="2800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spc="175" dirty="0">
                <a:solidFill>
                  <a:srgbClr val="0F0F0F"/>
                </a:solidFill>
                <a:latin typeface="Times New Roman"/>
                <a:cs typeface="Times New Roman"/>
              </a:rPr>
              <a:t>Language</a:t>
            </a:r>
            <a:r>
              <a:rPr sz="2800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spc="185" dirty="0">
                <a:solidFill>
                  <a:srgbClr val="0F0F0F"/>
                </a:solidFill>
                <a:latin typeface="Times New Roman"/>
                <a:cs typeface="Times New Roman"/>
              </a:rPr>
              <a:t>Processing</a:t>
            </a:r>
            <a:r>
              <a:rPr sz="2800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spc="170" dirty="0">
                <a:solidFill>
                  <a:srgbClr val="0F0F0F"/>
                </a:solidFill>
                <a:latin typeface="Times New Roman"/>
                <a:cs typeface="Times New Roman"/>
              </a:rPr>
              <a:t>using</a:t>
            </a:r>
            <a:r>
              <a:rPr sz="2800" spc="31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800" spc="95" dirty="0">
                <a:solidFill>
                  <a:srgbClr val="0F0F0F"/>
                </a:solidFill>
                <a:latin typeface="Times New Roman"/>
                <a:cs typeface="Times New Roman"/>
              </a:rPr>
              <a:t>AI</a:t>
            </a:r>
            <a:r>
              <a:rPr sz="2800" spc="32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800" spc="165" dirty="0">
                <a:solidFill>
                  <a:srgbClr val="0F0F0F"/>
                </a:solidFill>
                <a:latin typeface="Times New Roman"/>
                <a:cs typeface="Times New Roman"/>
              </a:rPr>
              <a:t>Agents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603885" algn="l"/>
                <a:tab pos="2510155" algn="l"/>
              </a:tabLst>
            </a:pPr>
            <a:r>
              <a:rPr sz="2800" b="1" spc="65" dirty="0">
                <a:solidFill>
                  <a:srgbClr val="0F0F0F"/>
                </a:solidFill>
                <a:latin typeface="Times New Roman"/>
                <a:cs typeface="Times New Roman"/>
              </a:rPr>
              <a:t>PS</a:t>
            </a:r>
            <a:r>
              <a:rPr sz="2800" b="1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b="1" spc="180" dirty="0">
                <a:solidFill>
                  <a:srgbClr val="0F0F0F"/>
                </a:solidFill>
                <a:latin typeface="Times New Roman"/>
                <a:cs typeface="Times New Roman"/>
              </a:rPr>
              <a:t>Category:</a:t>
            </a:r>
            <a:r>
              <a:rPr sz="2800" b="1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spc="175" dirty="0">
                <a:solidFill>
                  <a:srgbClr val="0F0F0F"/>
                </a:solidFill>
                <a:latin typeface="Times New Roman"/>
                <a:cs typeface="Times New Roman"/>
              </a:rPr>
              <a:t>Software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1082675" algn="l"/>
                <a:tab pos="2453005" algn="l"/>
                <a:tab pos="3731260" algn="l"/>
                <a:tab pos="4993005" algn="l"/>
              </a:tabLst>
            </a:pPr>
            <a:r>
              <a:rPr sz="2800" b="1" spc="75" dirty="0">
                <a:solidFill>
                  <a:srgbClr val="0F0F0F"/>
                </a:solidFill>
                <a:latin typeface="Times New Roman"/>
                <a:cs typeface="Times New Roman"/>
              </a:rPr>
              <a:t>Team</a:t>
            </a:r>
            <a:r>
              <a:rPr sz="2800" b="1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b="1" spc="170" dirty="0">
                <a:solidFill>
                  <a:srgbClr val="0F0F0F"/>
                </a:solidFill>
                <a:latin typeface="Times New Roman"/>
                <a:cs typeface="Times New Roman"/>
              </a:rPr>
              <a:t>Leader</a:t>
            </a:r>
            <a:r>
              <a:rPr sz="2800" b="1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b="1" spc="150" dirty="0">
                <a:solidFill>
                  <a:srgbClr val="0F0F0F"/>
                </a:solidFill>
                <a:latin typeface="Times New Roman"/>
                <a:cs typeface="Times New Roman"/>
              </a:rPr>
              <a:t>Name:</a:t>
            </a:r>
            <a:r>
              <a:rPr sz="2800" b="1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spc="170" dirty="0">
                <a:solidFill>
                  <a:srgbClr val="0F0F0F"/>
                </a:solidFill>
                <a:latin typeface="Times New Roman"/>
                <a:cs typeface="Times New Roman"/>
              </a:rPr>
              <a:t>Aditya</a:t>
            </a:r>
            <a:r>
              <a:rPr sz="2800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spc="175" dirty="0">
                <a:solidFill>
                  <a:srgbClr val="0F0F0F"/>
                </a:solidFill>
                <a:latin typeface="Times New Roman"/>
                <a:cs typeface="Times New Roman"/>
              </a:rPr>
              <a:t>Suryakar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1151255" algn="l"/>
                <a:tab pos="2117090" algn="l"/>
              </a:tabLst>
            </a:pPr>
            <a:r>
              <a:rPr sz="2800" b="1" spc="135" dirty="0">
                <a:solidFill>
                  <a:srgbClr val="0F0F0F"/>
                </a:solidFill>
                <a:latin typeface="Times New Roman"/>
                <a:cs typeface="Times New Roman"/>
              </a:rPr>
              <a:t>Video</a:t>
            </a:r>
            <a:r>
              <a:rPr sz="2800" b="1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b="1" spc="135" dirty="0">
                <a:solidFill>
                  <a:srgbClr val="0F0F0F"/>
                </a:solidFill>
                <a:latin typeface="Times New Roman"/>
                <a:cs typeface="Times New Roman"/>
              </a:rPr>
              <a:t>Link</a:t>
            </a:r>
            <a:r>
              <a:rPr sz="2800" b="1" dirty="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sz="2800" b="1" spc="-50" dirty="0">
                <a:solidFill>
                  <a:srgbClr val="0F0F0F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13765" y="1519318"/>
            <a:ext cx="3618229" cy="144780"/>
            <a:chOff x="1313765" y="1519318"/>
            <a:chExt cx="3618229" cy="144780"/>
          </a:xfrm>
        </p:grpSpPr>
        <p:sp>
          <p:nvSpPr>
            <p:cNvPr id="3" name="object 3"/>
            <p:cNvSpPr/>
            <p:nvPr/>
          </p:nvSpPr>
          <p:spPr>
            <a:xfrm>
              <a:off x="1328980" y="1519925"/>
              <a:ext cx="3587750" cy="143510"/>
            </a:xfrm>
            <a:custGeom>
              <a:avLst/>
              <a:gdLst/>
              <a:ahLst/>
              <a:cxnLst/>
              <a:rect l="l" t="t" r="r" b="b"/>
              <a:pathLst>
                <a:path w="3587750" h="143510">
                  <a:moveTo>
                    <a:pt x="3587491" y="0"/>
                  </a:moveTo>
                  <a:lnTo>
                    <a:pt x="0" y="0"/>
                  </a:lnTo>
                  <a:lnTo>
                    <a:pt x="0" y="143311"/>
                  </a:lnTo>
                  <a:lnTo>
                    <a:pt x="3587491" y="143311"/>
                  </a:lnTo>
                  <a:lnTo>
                    <a:pt x="3587491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13765" y="1519318"/>
              <a:ext cx="3618229" cy="144780"/>
            </a:xfrm>
            <a:custGeom>
              <a:avLst/>
              <a:gdLst/>
              <a:ahLst/>
              <a:cxnLst/>
              <a:rect l="l" t="t" r="r" b="b"/>
              <a:pathLst>
                <a:path w="3618229" h="144780">
                  <a:moveTo>
                    <a:pt x="3617706" y="4250"/>
                  </a:moveTo>
                  <a:lnTo>
                    <a:pt x="132" y="4250"/>
                  </a:lnTo>
                  <a:lnTo>
                    <a:pt x="118" y="18868"/>
                  </a:lnTo>
                  <a:lnTo>
                    <a:pt x="0" y="139971"/>
                  </a:lnTo>
                  <a:lnTo>
                    <a:pt x="7139" y="143850"/>
                  </a:lnTo>
                  <a:lnTo>
                    <a:pt x="16270" y="144521"/>
                  </a:lnTo>
                  <a:lnTo>
                    <a:pt x="3601671" y="144521"/>
                  </a:lnTo>
                  <a:lnTo>
                    <a:pt x="3610783" y="143850"/>
                  </a:lnTo>
                  <a:lnTo>
                    <a:pt x="3617706" y="139971"/>
                  </a:lnTo>
                  <a:lnTo>
                    <a:pt x="3617706" y="125655"/>
                  </a:lnTo>
                  <a:lnTo>
                    <a:pt x="37884" y="125655"/>
                  </a:lnTo>
                  <a:lnTo>
                    <a:pt x="37884" y="18868"/>
                  </a:lnTo>
                  <a:lnTo>
                    <a:pt x="3617706" y="18868"/>
                  </a:lnTo>
                  <a:lnTo>
                    <a:pt x="3617706" y="4250"/>
                  </a:lnTo>
                  <a:close/>
                </a:path>
                <a:path w="3618229" h="144780">
                  <a:moveTo>
                    <a:pt x="3617706" y="18868"/>
                  </a:moveTo>
                  <a:lnTo>
                    <a:pt x="3580004" y="18868"/>
                  </a:lnTo>
                  <a:lnTo>
                    <a:pt x="3580004" y="125655"/>
                  </a:lnTo>
                  <a:lnTo>
                    <a:pt x="3617706" y="125655"/>
                  </a:lnTo>
                  <a:lnTo>
                    <a:pt x="3617706" y="18868"/>
                  </a:lnTo>
                  <a:close/>
                </a:path>
                <a:path w="3618229" h="144780">
                  <a:moveTo>
                    <a:pt x="3609580" y="0"/>
                  </a:moveTo>
                  <a:lnTo>
                    <a:pt x="8605" y="0"/>
                  </a:lnTo>
                  <a:lnTo>
                    <a:pt x="0" y="4250"/>
                  </a:lnTo>
                  <a:lnTo>
                    <a:pt x="3617893" y="4250"/>
                  </a:lnTo>
                  <a:lnTo>
                    <a:pt x="3609580" y="0"/>
                  </a:lnTo>
                  <a:close/>
                </a:path>
              </a:pathLst>
            </a:custGeom>
            <a:solidFill>
              <a:srgbClr val="1C3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872" rIns="0" bIns="0" rtlCol="0">
            <a:spAutoFit/>
          </a:bodyPr>
          <a:lstStyle/>
          <a:p>
            <a:pPr marL="67564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9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14400">
              <a:lnSpc>
                <a:spcPct val="100000"/>
              </a:lnSpc>
              <a:spcBef>
                <a:spcPts val="100"/>
              </a:spcBef>
            </a:pPr>
            <a:r>
              <a:rPr dirty="0"/>
              <a:t>Over</a:t>
            </a:r>
            <a:r>
              <a:rPr spc="-35" dirty="0"/>
              <a:t> </a:t>
            </a:r>
            <a:r>
              <a:rPr dirty="0"/>
              <a:t>80</a:t>
            </a:r>
            <a:r>
              <a:rPr spc="-30" dirty="0"/>
              <a:t> </a:t>
            </a:r>
            <a:r>
              <a:rPr dirty="0"/>
              <a:t>million</a:t>
            </a:r>
            <a:r>
              <a:rPr spc="-60" dirty="0"/>
              <a:t> </a:t>
            </a:r>
            <a:r>
              <a:rPr dirty="0"/>
              <a:t>people</a:t>
            </a:r>
            <a:r>
              <a:rPr spc="-55" dirty="0"/>
              <a:t> </a:t>
            </a:r>
            <a:r>
              <a:rPr dirty="0"/>
              <a:t>worldwide</a:t>
            </a:r>
            <a:r>
              <a:rPr spc="-30" dirty="0"/>
              <a:t> </a:t>
            </a:r>
            <a:r>
              <a:rPr dirty="0"/>
              <a:t>stutter,</a:t>
            </a:r>
            <a:r>
              <a:rPr spc="-70" dirty="0"/>
              <a:t> </a:t>
            </a:r>
            <a:r>
              <a:rPr dirty="0"/>
              <a:t>yet</a:t>
            </a:r>
            <a:r>
              <a:rPr spc="-50" dirty="0"/>
              <a:t> </a:t>
            </a:r>
            <a:r>
              <a:rPr spc="-10" dirty="0"/>
              <a:t>every mainstream</a:t>
            </a:r>
            <a:r>
              <a:rPr spc="-160" dirty="0"/>
              <a:t> </a:t>
            </a:r>
            <a:r>
              <a:rPr dirty="0"/>
              <a:t>ASR</a:t>
            </a:r>
            <a:r>
              <a:rPr spc="10" dirty="0"/>
              <a:t> </a:t>
            </a:r>
            <a:r>
              <a:rPr dirty="0"/>
              <a:t>system</a:t>
            </a:r>
            <a:r>
              <a:rPr spc="-25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built</a:t>
            </a:r>
            <a:r>
              <a:rPr spc="-25" dirty="0"/>
              <a:t> </a:t>
            </a:r>
            <a:r>
              <a:rPr dirty="0"/>
              <a:t>exclusively</a:t>
            </a:r>
            <a:r>
              <a:rPr spc="-45" dirty="0"/>
              <a:t> </a:t>
            </a:r>
            <a:r>
              <a:rPr dirty="0"/>
              <a:t>for fluent</a:t>
            </a:r>
            <a:r>
              <a:rPr spc="-20" dirty="0"/>
              <a:t> </a:t>
            </a:r>
            <a:r>
              <a:rPr dirty="0"/>
              <a:t>speech</a:t>
            </a:r>
            <a:r>
              <a:rPr spc="5" dirty="0"/>
              <a:t> </a:t>
            </a:r>
            <a:r>
              <a:rPr spc="-50" dirty="0"/>
              <a:t>- </a:t>
            </a:r>
            <a:r>
              <a:rPr dirty="0"/>
              <a:t>making</a:t>
            </a:r>
            <a:r>
              <a:rPr spc="-5" dirty="0"/>
              <a:t> </a:t>
            </a:r>
            <a:r>
              <a:rPr dirty="0"/>
              <a:t>them</a:t>
            </a:r>
            <a:r>
              <a:rPr spc="-25" dirty="0"/>
              <a:t> </a:t>
            </a:r>
            <a:r>
              <a:rPr dirty="0"/>
              <a:t>structurally</a:t>
            </a:r>
            <a:r>
              <a:rPr spc="-40" dirty="0"/>
              <a:t> </a:t>
            </a:r>
            <a:r>
              <a:rPr dirty="0"/>
              <a:t>incapable</a:t>
            </a:r>
            <a:r>
              <a:rPr spc="-3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handling</a:t>
            </a:r>
            <a:r>
              <a:rPr spc="-25" dirty="0"/>
              <a:t> </a:t>
            </a:r>
            <a:r>
              <a:rPr spc="-10" dirty="0"/>
              <a:t>repetitions, </a:t>
            </a:r>
            <a:r>
              <a:rPr dirty="0"/>
              <a:t>prolongations,</a:t>
            </a:r>
            <a:r>
              <a:rPr spc="-6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blocks.</a:t>
            </a:r>
            <a:r>
              <a:rPr spc="-80" dirty="0"/>
              <a:t> </a:t>
            </a:r>
            <a:r>
              <a:rPr dirty="0"/>
              <a:t>While</a:t>
            </a:r>
            <a:r>
              <a:rPr spc="-30" dirty="0"/>
              <a:t> </a:t>
            </a:r>
            <a:r>
              <a:rPr spc="-10" dirty="0"/>
              <a:t>workarounds</a:t>
            </a:r>
            <a:r>
              <a:rPr spc="-30" dirty="0"/>
              <a:t> </a:t>
            </a:r>
            <a:r>
              <a:rPr dirty="0"/>
              <a:t>exist,</a:t>
            </a:r>
            <a:r>
              <a:rPr spc="-40" dirty="0"/>
              <a:t> </a:t>
            </a:r>
            <a:r>
              <a:rPr dirty="0"/>
              <a:t>none</a:t>
            </a:r>
            <a:r>
              <a:rPr spc="-20" dirty="0"/>
              <a:t> </a:t>
            </a:r>
            <a:r>
              <a:rPr dirty="0"/>
              <a:t>offer</a:t>
            </a:r>
            <a:r>
              <a:rPr spc="-20" dirty="0"/>
              <a:t> </a:t>
            </a:r>
            <a:r>
              <a:rPr spc="-10" dirty="0"/>
              <a:t>real- </a:t>
            </a:r>
            <a:r>
              <a:rPr dirty="0"/>
              <a:t>time</a:t>
            </a:r>
            <a:r>
              <a:rPr spc="-20" dirty="0"/>
              <a:t> </a:t>
            </a:r>
            <a:r>
              <a:rPr dirty="0"/>
              <a:t>correction</a:t>
            </a:r>
            <a:r>
              <a:rPr spc="-45" dirty="0"/>
              <a:t> </a:t>
            </a:r>
            <a:r>
              <a:rPr dirty="0"/>
              <a:t>while</a:t>
            </a:r>
            <a:r>
              <a:rPr spc="-25" dirty="0"/>
              <a:t> </a:t>
            </a:r>
            <a:r>
              <a:rPr dirty="0"/>
              <a:t>preserving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speaker's</a:t>
            </a:r>
            <a:r>
              <a:rPr spc="-10" dirty="0"/>
              <a:t> </a:t>
            </a:r>
            <a:r>
              <a:rPr dirty="0"/>
              <a:t>natural</a:t>
            </a:r>
            <a:r>
              <a:rPr spc="-40" dirty="0"/>
              <a:t> </a:t>
            </a:r>
            <a:r>
              <a:rPr dirty="0"/>
              <a:t>voice</a:t>
            </a:r>
            <a:r>
              <a:rPr spc="-25" dirty="0"/>
              <a:t> and </a:t>
            </a:r>
            <a:r>
              <a:rPr dirty="0"/>
              <a:t>original</a:t>
            </a:r>
            <a:r>
              <a:rPr spc="-35" dirty="0"/>
              <a:t> </a:t>
            </a:r>
            <a:r>
              <a:rPr dirty="0"/>
              <a:t>meaning</a:t>
            </a:r>
            <a:r>
              <a:rPr spc="-20" dirty="0"/>
              <a:t> </a:t>
            </a:r>
            <a:r>
              <a:rPr spc="-10" dirty="0"/>
              <a:t>simultaneously.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0922" y="4103598"/>
            <a:ext cx="7333142" cy="53071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658236" y="2049271"/>
            <a:ext cx="144843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7244" marR="5080" indent="-8051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Design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develop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real-</a:t>
            </a:r>
            <a:r>
              <a:rPr sz="2400" b="1" dirty="0">
                <a:latin typeface="Times New Roman"/>
                <a:cs typeface="Times New Roman"/>
              </a:rPr>
              <a:t>time,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multi-agent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speech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processing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system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that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converts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stuttered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speech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into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fluent, </a:t>
            </a:r>
            <a:r>
              <a:rPr sz="2400" b="1" dirty="0">
                <a:latin typeface="Times New Roman"/>
                <a:cs typeface="Times New Roman"/>
              </a:rPr>
              <a:t>semantically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accurate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text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speech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output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improve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accessibility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people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who</a:t>
            </a:r>
            <a:r>
              <a:rPr sz="2400" b="1" spc="-10" dirty="0">
                <a:latin typeface="Times New Roman"/>
                <a:cs typeface="Times New Roman"/>
              </a:rPr>
              <a:t> stutter.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5539" y="5789167"/>
            <a:ext cx="8423910" cy="3308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How</a:t>
            </a:r>
            <a:r>
              <a:rPr sz="2400" b="1" u="sng" spc="-6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400" b="1" u="sng" spc="-5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solution</a:t>
            </a:r>
            <a:r>
              <a:rPr sz="2400" b="1" u="sng" spc="-6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addresses</a:t>
            </a:r>
            <a:r>
              <a:rPr sz="2400" b="1" u="sng" spc="-6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400" b="1"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problem</a:t>
            </a:r>
            <a:r>
              <a:rPr sz="2400" b="1" u="sng" spc="-6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  <a:p>
            <a:pPr marL="355600" marR="330200" indent="-342900">
              <a:lnSpc>
                <a:spcPts val="2880"/>
              </a:lnSpc>
              <a:spcBef>
                <a:spcPts val="6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Calibri"/>
                <a:cs typeface="Calibri"/>
              </a:rPr>
              <a:t>Improves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Speech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Clarity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Converts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stuttered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speech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clear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fluent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voice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AI.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ts val="288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Calibri"/>
                <a:cs typeface="Calibri"/>
              </a:rPr>
              <a:t>Enhances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Accessibility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Enables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people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stutter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voice-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technologies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easily.</a:t>
            </a:r>
            <a:endParaRPr sz="2400">
              <a:latin typeface="Calibri"/>
              <a:cs typeface="Calibri"/>
            </a:endParaRPr>
          </a:p>
          <a:p>
            <a:pPr marL="355600" marR="407670" indent="-342900">
              <a:lnSpc>
                <a:spcPts val="288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Calibri"/>
                <a:cs typeface="Calibri"/>
              </a:rPr>
              <a:t>Boosts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Confidence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communicate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</a:t>
            </a:r>
            <a:r>
              <a:rPr sz="2400" spc="-10" dirty="0">
                <a:latin typeface="Calibri"/>
                <a:cs typeface="Calibri"/>
              </a:rPr>
              <a:t>hesitation.</a:t>
            </a:r>
            <a:endParaRPr sz="2400">
              <a:latin typeface="Calibri"/>
              <a:cs typeface="Calibri"/>
            </a:endParaRPr>
          </a:p>
          <a:p>
            <a:pPr marL="355600" marR="582295" indent="-342900">
              <a:lnSpc>
                <a:spcPts val="288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Calibri"/>
                <a:cs typeface="Calibri"/>
              </a:rPr>
              <a:t>Promotes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Digital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Equity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education, </a:t>
            </a:r>
            <a:r>
              <a:rPr sz="2400" dirty="0">
                <a:latin typeface="Calibri"/>
                <a:cs typeface="Calibri"/>
              </a:rPr>
              <a:t>jobs,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communication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voice-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world.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72009" y="3337686"/>
            <a:ext cx="3468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4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Target</a:t>
            </a:r>
            <a:r>
              <a:rPr sz="2400" b="1" u="sng" spc="-14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Audience</a:t>
            </a:r>
            <a:r>
              <a:rPr sz="2400" b="1" u="sng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Segments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1F5EF5-D23A-87A3-7F2A-1689740E738D}"/>
              </a:ext>
            </a:extLst>
          </p:cNvPr>
          <p:cNvSpPr txBox="1"/>
          <p:nvPr/>
        </p:nvSpPr>
        <p:spPr>
          <a:xfrm>
            <a:off x="1066800" y="991969"/>
            <a:ext cx="243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bjectives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5C4E9648-6C1C-5533-8D06-7D63527A7770}"/>
              </a:ext>
            </a:extLst>
          </p:cNvPr>
          <p:cNvSpPr/>
          <p:nvPr/>
        </p:nvSpPr>
        <p:spPr>
          <a:xfrm>
            <a:off x="1219200" y="1630215"/>
            <a:ext cx="2072639" cy="160485"/>
          </a:xfrm>
          <a:custGeom>
            <a:avLst/>
            <a:gdLst/>
            <a:ahLst/>
            <a:cxnLst/>
            <a:rect l="l" t="t" r="r" b="b"/>
            <a:pathLst>
              <a:path w="1844039" h="158114">
                <a:moveTo>
                  <a:pt x="1843449" y="0"/>
                </a:moveTo>
                <a:lnTo>
                  <a:pt x="0" y="0"/>
                </a:lnTo>
                <a:lnTo>
                  <a:pt x="0" y="157533"/>
                </a:lnTo>
                <a:lnTo>
                  <a:pt x="1843449" y="157534"/>
                </a:lnTo>
                <a:lnTo>
                  <a:pt x="1843449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EF1C0D-BA10-EB4D-4D8B-7DD59942B8CC}"/>
              </a:ext>
            </a:extLst>
          </p:cNvPr>
          <p:cNvSpPr txBox="1"/>
          <p:nvPr/>
        </p:nvSpPr>
        <p:spPr>
          <a:xfrm>
            <a:off x="1219200" y="2400300"/>
            <a:ext cx="15087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Data Preprocessing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noise-robust audio preprocessing module that enhances input speech quality by reducing background noise, normalizing audio signals, and preparing the data for accurate speech recognition in real-world environments.</a:t>
            </a:r>
          </a:p>
          <a:p>
            <a:pPr marL="457200" indent="-457200"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Repair Agents Creation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multiple context-aware NLP-based repair agents (such as grammar correction, fluency enhancement, sequence correction, and stutter removal agents) that process transcribed text and generate improved, semantically meaningful outputs.</a:t>
            </a:r>
          </a:p>
          <a:p>
            <a:pPr marL="457200" indent="-457200"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Agent Operation with Feedback Loop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master agent that evaluates outputs from different repair agents using defined scoring metrics (semantic similarity, grammar, fluency, etc.), selects the best result, and incorporates a feedback loop mechanism to reprocess text when quality thresholds are not met.</a:t>
            </a:r>
          </a:p>
          <a:p>
            <a:pPr marL="457200" indent="-457200"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Low Latency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 advanced text-to-speech module capable of synthesizing natural,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fluent, and stutter-free speech while preserving the original speaker's voice characteristics using voice cloning techniques.</a:t>
            </a:r>
          </a:p>
          <a:p>
            <a:pPr marL="457200" indent="-457200"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Input–Output Processing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real-time speech processing pipeline that captures live audio input, performs speech-to-text conversion, applies intelligent text repair, and generates fluent audio output with minimal latency for seamless communication.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201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2810" y="1553836"/>
            <a:ext cx="1866900" cy="158115"/>
            <a:chOff x="682810" y="1553836"/>
            <a:chExt cx="1866900" cy="158115"/>
          </a:xfrm>
        </p:grpSpPr>
        <p:sp>
          <p:nvSpPr>
            <p:cNvPr id="3" name="object 3"/>
            <p:cNvSpPr/>
            <p:nvPr/>
          </p:nvSpPr>
          <p:spPr>
            <a:xfrm>
              <a:off x="694301" y="1554015"/>
              <a:ext cx="1844039" cy="158115"/>
            </a:xfrm>
            <a:custGeom>
              <a:avLst/>
              <a:gdLst/>
              <a:ahLst/>
              <a:cxnLst/>
              <a:rect l="l" t="t" r="r" b="b"/>
              <a:pathLst>
                <a:path w="1844039" h="158114">
                  <a:moveTo>
                    <a:pt x="1843449" y="0"/>
                  </a:moveTo>
                  <a:lnTo>
                    <a:pt x="0" y="0"/>
                  </a:lnTo>
                  <a:lnTo>
                    <a:pt x="0" y="157533"/>
                  </a:lnTo>
                  <a:lnTo>
                    <a:pt x="1843449" y="157534"/>
                  </a:lnTo>
                  <a:lnTo>
                    <a:pt x="1843449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2810" y="1553836"/>
              <a:ext cx="1866900" cy="158115"/>
            </a:xfrm>
            <a:custGeom>
              <a:avLst/>
              <a:gdLst/>
              <a:ahLst/>
              <a:cxnLst/>
              <a:rect l="l" t="t" r="r" b="b"/>
              <a:pathLst>
                <a:path w="1866900" h="158114">
                  <a:moveTo>
                    <a:pt x="1860727" y="0"/>
                  </a:moveTo>
                  <a:lnTo>
                    <a:pt x="5664" y="0"/>
                  </a:lnTo>
                  <a:lnTo>
                    <a:pt x="0" y="5428"/>
                  </a:lnTo>
                  <a:lnTo>
                    <a:pt x="0" y="152093"/>
                  </a:lnTo>
                  <a:lnTo>
                    <a:pt x="4692" y="157051"/>
                  </a:lnTo>
                  <a:lnTo>
                    <a:pt x="10793" y="157897"/>
                  </a:lnTo>
                  <a:lnTo>
                    <a:pt x="1855623" y="157897"/>
                  </a:lnTo>
                  <a:lnTo>
                    <a:pt x="1861635" y="157051"/>
                  </a:lnTo>
                  <a:lnTo>
                    <a:pt x="1866386" y="152094"/>
                  </a:lnTo>
                  <a:lnTo>
                    <a:pt x="1866387" y="133856"/>
                  </a:lnTo>
                  <a:lnTo>
                    <a:pt x="25176" y="133855"/>
                  </a:lnTo>
                  <a:lnTo>
                    <a:pt x="25176" y="24160"/>
                  </a:lnTo>
                  <a:lnTo>
                    <a:pt x="1866387" y="24161"/>
                  </a:lnTo>
                  <a:lnTo>
                    <a:pt x="1866387" y="5429"/>
                  </a:lnTo>
                  <a:lnTo>
                    <a:pt x="1860727" y="0"/>
                  </a:lnTo>
                  <a:close/>
                </a:path>
                <a:path w="1866900" h="158114">
                  <a:moveTo>
                    <a:pt x="1866409" y="24161"/>
                  </a:moveTo>
                  <a:lnTo>
                    <a:pt x="1841261" y="24161"/>
                  </a:lnTo>
                  <a:lnTo>
                    <a:pt x="1841261" y="133856"/>
                  </a:lnTo>
                  <a:lnTo>
                    <a:pt x="1866409" y="133856"/>
                  </a:lnTo>
                  <a:lnTo>
                    <a:pt x="1866409" y="24161"/>
                  </a:lnTo>
                  <a:close/>
                </a:path>
              </a:pathLst>
            </a:custGeom>
            <a:solidFill>
              <a:srgbClr val="1C3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497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8340" y="3031362"/>
            <a:ext cx="391604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How</a:t>
            </a:r>
            <a:r>
              <a:rPr sz="2600" b="1"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it</a:t>
            </a:r>
            <a:r>
              <a:rPr sz="2600" b="1" u="sng" spc="-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solves</a:t>
            </a:r>
            <a:r>
              <a:rPr sz="2600" b="1" u="sng" spc="-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600" b="1" u="sng" spc="-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problem</a:t>
            </a:r>
            <a:r>
              <a:rPr sz="2600" b="1"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?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340" y="3794886"/>
            <a:ext cx="8600440" cy="599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54940" indent="-4572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Speech-to-</a:t>
            </a:r>
            <a:r>
              <a:rPr sz="2400" b="1" spc="-45" dirty="0">
                <a:latin typeface="Times New Roman"/>
                <a:cs typeface="Times New Roman"/>
              </a:rPr>
              <a:t>Text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(ASR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Module):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stuttered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audio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 </a:t>
            </a:r>
            <a:r>
              <a:rPr sz="2400" dirty="0">
                <a:latin typeface="Times New Roman"/>
                <a:cs typeface="Times New Roman"/>
              </a:rPr>
              <a:t>initial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transcript,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capturing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spoken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despite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errors</a:t>
            </a:r>
            <a:endParaRPr sz="2400">
              <a:latin typeface="Times New Roman"/>
              <a:cs typeface="Times New Roman"/>
            </a:endParaRPr>
          </a:p>
          <a:p>
            <a:pPr marL="469900" marR="56007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NLP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Processing: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Prepares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converting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token </a:t>
            </a:r>
            <a:r>
              <a:rPr sz="2400" dirty="0">
                <a:latin typeface="Times New Roman"/>
                <a:cs typeface="Times New Roman"/>
              </a:rPr>
              <a:t>sequences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effective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correction</a:t>
            </a:r>
            <a:endParaRPr sz="24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400" b="1" dirty="0">
                <a:latin typeface="Times New Roman"/>
                <a:cs typeface="Times New Roman"/>
              </a:rPr>
              <a:t>Multi-Agent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Text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Repair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agents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remove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repetitions,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fix </a:t>
            </a:r>
            <a:r>
              <a:rPr sz="2400" dirty="0">
                <a:latin typeface="Times New Roman"/>
                <a:cs typeface="Times New Roman"/>
              </a:rPr>
              <a:t>grammar,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preserve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original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meaning</a:t>
            </a:r>
            <a:endParaRPr sz="2400">
              <a:latin typeface="Times New Roman"/>
              <a:cs typeface="Times New Roman"/>
            </a:endParaRPr>
          </a:p>
          <a:p>
            <a:pPr marL="469900" marR="173355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Master</a:t>
            </a:r>
            <a:r>
              <a:rPr sz="2400" b="1" spc="-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Agent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Evaluation: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refines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corrected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feedback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validation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400" b="1" spc="-55" dirty="0">
                <a:latin typeface="Times New Roman"/>
                <a:cs typeface="Times New Roman"/>
              </a:rPr>
              <a:t>Text-</a:t>
            </a:r>
            <a:r>
              <a:rPr sz="2400" b="1" spc="-10" dirty="0">
                <a:latin typeface="Times New Roman"/>
                <a:cs typeface="Times New Roman"/>
              </a:rPr>
              <a:t>to-</a:t>
            </a:r>
            <a:r>
              <a:rPr sz="2400" b="1" dirty="0">
                <a:latin typeface="Times New Roman"/>
                <a:cs typeface="Times New Roman"/>
              </a:rPr>
              <a:t>Speech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with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30" dirty="0">
                <a:latin typeface="Times New Roman"/>
                <a:cs typeface="Times New Roman"/>
              </a:rPr>
              <a:t>Voice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Cloning: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fluent,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natural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speech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maintaining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speaker’s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voice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characteristics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2300"/>
              </a:spcBef>
            </a:pP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Unique</a:t>
            </a:r>
            <a:r>
              <a:rPr sz="2400" b="1" u="sng" spc="-6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Features</a:t>
            </a:r>
            <a:r>
              <a:rPr sz="2400" b="1" u="sng" spc="-7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31165" lvl="1" indent="-342265">
              <a:lnSpc>
                <a:spcPts val="2875"/>
              </a:lnSpc>
              <a:spcBef>
                <a:spcPts val="1460"/>
              </a:spcBef>
              <a:buFont typeface="Arial MT"/>
              <a:buChar char="•"/>
              <a:tabLst>
                <a:tab pos="431165" algn="l"/>
              </a:tabLst>
            </a:pP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Repair</a:t>
            </a:r>
            <a:endParaRPr sz="2400">
              <a:latin typeface="Times New Roman"/>
              <a:cs typeface="Times New Roman"/>
            </a:endParaRPr>
          </a:p>
          <a:p>
            <a:pPr marL="431165" lvl="1" indent="-342265">
              <a:lnSpc>
                <a:spcPts val="2875"/>
              </a:lnSpc>
              <a:buFont typeface="Arial MT"/>
              <a:buChar char="•"/>
              <a:tabLst>
                <a:tab pos="431165" algn="l"/>
              </a:tabLst>
            </a:pPr>
            <a:r>
              <a:rPr sz="2400" dirty="0">
                <a:latin typeface="Calibri"/>
                <a:cs typeface="Calibri"/>
              </a:rPr>
              <a:t>Meaning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Preservation</a:t>
            </a:r>
            <a:endParaRPr sz="2400">
              <a:latin typeface="Calibri"/>
              <a:cs typeface="Calibri"/>
            </a:endParaRPr>
          </a:p>
          <a:p>
            <a:pPr marL="431165" lvl="1" indent="-342265">
              <a:lnSpc>
                <a:spcPct val="100000"/>
              </a:lnSpc>
              <a:buFont typeface="Arial MT"/>
              <a:buChar char="•"/>
              <a:tabLst>
                <a:tab pos="431165" algn="l"/>
              </a:tabLst>
            </a:pPr>
            <a:r>
              <a:rPr sz="2400" spc="-20" dirty="0">
                <a:latin typeface="Calibri"/>
                <a:cs typeface="Calibri"/>
              </a:rPr>
              <a:t>Personalized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Voice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Reconstruction</a:t>
            </a:r>
            <a:endParaRPr sz="2400">
              <a:latin typeface="Calibri"/>
              <a:cs typeface="Calibri"/>
            </a:endParaRPr>
          </a:p>
          <a:p>
            <a:pPr marL="431165" lvl="1" indent="-34226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431165" algn="l"/>
              </a:tabLst>
            </a:pPr>
            <a:r>
              <a:rPr sz="2400" spc="-20" dirty="0">
                <a:latin typeface="Calibri"/>
                <a:cs typeface="Calibri"/>
              </a:rPr>
              <a:t>End-to-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Speech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Repair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Pipeline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" y="1965706"/>
            <a:ext cx="16621125" cy="74930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5080" indent="914400">
              <a:lnSpc>
                <a:spcPts val="2820"/>
              </a:lnSpc>
              <a:spcBef>
                <a:spcPts val="244"/>
              </a:spcBef>
            </a:pPr>
            <a:r>
              <a:rPr sz="2400" dirty="0">
                <a:latin typeface="Times New Roman"/>
                <a:cs typeface="Times New Roman"/>
              </a:rPr>
              <a:t>STEAMROLLER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real-time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stuttered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stages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pipeline: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ASR </a:t>
            </a:r>
            <a:r>
              <a:rPr sz="2400" dirty="0">
                <a:latin typeface="Times New Roman"/>
                <a:cs typeface="Times New Roman"/>
              </a:rPr>
              <a:t>Module,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NLP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Processing,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Multi-Agent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Text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Repair,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Master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Evaluation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Text-</a:t>
            </a:r>
            <a:r>
              <a:rPr sz="2400" spc="-10" dirty="0">
                <a:latin typeface="Times New Roman"/>
                <a:cs typeface="Times New Roman"/>
              </a:rPr>
              <a:t>to-</a:t>
            </a:r>
            <a:r>
              <a:rPr sz="2400" dirty="0">
                <a:latin typeface="Times New Roman"/>
                <a:cs typeface="Times New Roman"/>
              </a:rPr>
              <a:t>Speech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Voice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Cloning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0664" y="3992136"/>
            <a:ext cx="7983572" cy="44151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597388" y="3180715"/>
            <a:ext cx="6311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Output</a:t>
            </a:r>
            <a:r>
              <a:rPr sz="2400" b="1" u="sng" spc="-4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Comparison:</a:t>
            </a:r>
            <a:r>
              <a:rPr sz="2400" b="1" u="sng" spc="-4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Fluent</a:t>
            </a:r>
            <a:r>
              <a:rPr sz="2400" b="1" u="sng" spc="-5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vs</a:t>
            </a:r>
            <a:r>
              <a:rPr sz="2400" b="1" u="sng" spc="-4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Stuttered</a:t>
            </a:r>
            <a:r>
              <a:rPr sz="2400" b="1"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Speech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Technical</a:t>
            </a:r>
            <a:r>
              <a:rPr spc="-150" dirty="0"/>
              <a:t> </a:t>
            </a:r>
            <a:r>
              <a:rPr spc="-10" dirty="0"/>
              <a:t>Approach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6470" y="1457806"/>
            <a:ext cx="3848100" cy="224599"/>
            <a:chOff x="1036470" y="1457806"/>
            <a:chExt cx="3848100" cy="83185"/>
          </a:xfrm>
        </p:grpSpPr>
        <p:sp>
          <p:nvSpPr>
            <p:cNvPr id="4" name="object 4"/>
            <p:cNvSpPr/>
            <p:nvPr/>
          </p:nvSpPr>
          <p:spPr>
            <a:xfrm>
              <a:off x="1060158" y="1457806"/>
              <a:ext cx="3800475" cy="83185"/>
            </a:xfrm>
            <a:custGeom>
              <a:avLst/>
              <a:gdLst/>
              <a:ahLst/>
              <a:cxnLst/>
              <a:rect l="l" t="t" r="r" b="b"/>
              <a:pathLst>
                <a:path w="3800475" h="83184">
                  <a:moveTo>
                    <a:pt x="3800279" y="0"/>
                  </a:moveTo>
                  <a:lnTo>
                    <a:pt x="0" y="0"/>
                  </a:lnTo>
                  <a:lnTo>
                    <a:pt x="0" y="83082"/>
                  </a:lnTo>
                  <a:lnTo>
                    <a:pt x="3800279" y="83082"/>
                  </a:lnTo>
                  <a:lnTo>
                    <a:pt x="3800279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6470" y="1457806"/>
              <a:ext cx="3848100" cy="83185"/>
            </a:xfrm>
            <a:custGeom>
              <a:avLst/>
              <a:gdLst/>
              <a:ahLst/>
              <a:cxnLst/>
              <a:rect l="l" t="t" r="r" b="b"/>
              <a:pathLst>
                <a:path w="3848100" h="83184">
                  <a:moveTo>
                    <a:pt x="3821799" y="0"/>
                  </a:moveTo>
                  <a:lnTo>
                    <a:pt x="25938" y="0"/>
                  </a:lnTo>
                  <a:lnTo>
                    <a:pt x="0" y="6352"/>
                  </a:lnTo>
                  <a:lnTo>
                    <a:pt x="0" y="80028"/>
                  </a:lnTo>
                  <a:lnTo>
                    <a:pt x="9674" y="82637"/>
                  </a:lnTo>
                  <a:lnTo>
                    <a:pt x="22250" y="83082"/>
                  </a:lnTo>
                  <a:lnTo>
                    <a:pt x="3825385" y="83082"/>
                  </a:lnTo>
                  <a:lnTo>
                    <a:pt x="3837771" y="82637"/>
                  </a:lnTo>
                  <a:lnTo>
                    <a:pt x="3838029" y="82637"/>
                  </a:lnTo>
                  <a:lnTo>
                    <a:pt x="3847403" y="80029"/>
                  </a:lnTo>
                  <a:lnTo>
                    <a:pt x="3847565" y="80029"/>
                  </a:lnTo>
                  <a:lnTo>
                    <a:pt x="3847565" y="70433"/>
                  </a:lnTo>
                  <a:lnTo>
                    <a:pt x="51902" y="70432"/>
                  </a:lnTo>
                  <a:lnTo>
                    <a:pt x="51902" y="12713"/>
                  </a:lnTo>
                  <a:lnTo>
                    <a:pt x="3847565" y="12713"/>
                  </a:lnTo>
                  <a:lnTo>
                    <a:pt x="3847565" y="6353"/>
                  </a:lnTo>
                  <a:lnTo>
                    <a:pt x="3845561" y="3885"/>
                  </a:lnTo>
                  <a:lnTo>
                    <a:pt x="3839994" y="1864"/>
                  </a:lnTo>
                  <a:lnTo>
                    <a:pt x="3831784" y="499"/>
                  </a:lnTo>
                  <a:lnTo>
                    <a:pt x="3821799" y="0"/>
                  </a:lnTo>
                  <a:close/>
                </a:path>
                <a:path w="3848100" h="83184">
                  <a:moveTo>
                    <a:pt x="3847565" y="12713"/>
                  </a:moveTo>
                  <a:lnTo>
                    <a:pt x="3795769" y="12713"/>
                  </a:lnTo>
                  <a:lnTo>
                    <a:pt x="3795769" y="70433"/>
                  </a:lnTo>
                  <a:lnTo>
                    <a:pt x="3847565" y="70433"/>
                  </a:lnTo>
                  <a:lnTo>
                    <a:pt x="3847565" y="12713"/>
                  </a:lnTo>
                  <a:close/>
                </a:path>
              </a:pathLst>
            </a:custGeom>
            <a:solidFill>
              <a:srgbClr val="1C3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8243" y="2151711"/>
            <a:ext cx="13851918" cy="539321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69339" y="7487792"/>
            <a:ext cx="1963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0" dirty="0">
                <a:latin typeface="Times New Roman"/>
                <a:cs typeface="Times New Roman"/>
              </a:rPr>
              <a:t>Techstack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13934" y="8092933"/>
            <a:ext cx="1937385" cy="123189"/>
            <a:chOff x="1113934" y="8092933"/>
            <a:chExt cx="1937385" cy="123189"/>
          </a:xfrm>
        </p:grpSpPr>
        <p:sp>
          <p:nvSpPr>
            <p:cNvPr id="10" name="object 10"/>
            <p:cNvSpPr/>
            <p:nvPr/>
          </p:nvSpPr>
          <p:spPr>
            <a:xfrm>
              <a:off x="1125861" y="8093074"/>
              <a:ext cx="1913889" cy="123189"/>
            </a:xfrm>
            <a:custGeom>
              <a:avLst/>
              <a:gdLst/>
              <a:ahLst/>
              <a:cxnLst/>
              <a:rect l="l" t="t" r="r" b="b"/>
              <a:pathLst>
                <a:path w="1913889" h="123190">
                  <a:moveTo>
                    <a:pt x="1913389" y="0"/>
                  </a:moveTo>
                  <a:lnTo>
                    <a:pt x="0" y="0"/>
                  </a:lnTo>
                  <a:lnTo>
                    <a:pt x="0" y="122888"/>
                  </a:lnTo>
                  <a:lnTo>
                    <a:pt x="1913389" y="122889"/>
                  </a:lnTo>
                  <a:lnTo>
                    <a:pt x="1913389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13934" y="8092933"/>
              <a:ext cx="1937385" cy="123189"/>
            </a:xfrm>
            <a:custGeom>
              <a:avLst/>
              <a:gdLst/>
              <a:ahLst/>
              <a:cxnLst/>
              <a:rect l="l" t="t" r="r" b="b"/>
              <a:pathLst>
                <a:path w="1937385" h="123190">
                  <a:moveTo>
                    <a:pt x="1931323" y="0"/>
                  </a:moveTo>
                  <a:lnTo>
                    <a:pt x="5879" y="0"/>
                  </a:lnTo>
                  <a:lnTo>
                    <a:pt x="0" y="4234"/>
                  </a:lnTo>
                  <a:lnTo>
                    <a:pt x="0" y="118645"/>
                  </a:lnTo>
                  <a:lnTo>
                    <a:pt x="4870" y="122512"/>
                  </a:lnTo>
                  <a:lnTo>
                    <a:pt x="11202" y="123172"/>
                  </a:lnTo>
                  <a:lnTo>
                    <a:pt x="1926023" y="123172"/>
                  </a:lnTo>
                  <a:lnTo>
                    <a:pt x="1932266" y="122512"/>
                  </a:lnTo>
                  <a:lnTo>
                    <a:pt x="1932396" y="122512"/>
                  </a:lnTo>
                  <a:lnTo>
                    <a:pt x="1937197" y="118645"/>
                  </a:lnTo>
                  <a:lnTo>
                    <a:pt x="1937198" y="104418"/>
                  </a:lnTo>
                  <a:lnTo>
                    <a:pt x="26132" y="104417"/>
                  </a:lnTo>
                  <a:lnTo>
                    <a:pt x="26132" y="18847"/>
                  </a:lnTo>
                  <a:lnTo>
                    <a:pt x="1937198" y="18847"/>
                  </a:lnTo>
                  <a:lnTo>
                    <a:pt x="1937198" y="4234"/>
                  </a:lnTo>
                  <a:lnTo>
                    <a:pt x="1931323" y="0"/>
                  </a:lnTo>
                  <a:close/>
                </a:path>
                <a:path w="1937385" h="123190">
                  <a:moveTo>
                    <a:pt x="1937221" y="18847"/>
                  </a:moveTo>
                  <a:lnTo>
                    <a:pt x="1911119" y="18847"/>
                  </a:lnTo>
                  <a:lnTo>
                    <a:pt x="1911119" y="104418"/>
                  </a:lnTo>
                  <a:lnTo>
                    <a:pt x="1937221" y="104418"/>
                  </a:lnTo>
                  <a:lnTo>
                    <a:pt x="1937221" y="18847"/>
                  </a:lnTo>
                  <a:close/>
                </a:path>
              </a:pathLst>
            </a:custGeom>
            <a:solidFill>
              <a:srgbClr val="1C3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6832" y="8684031"/>
            <a:ext cx="771207" cy="100849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98064" y="8685428"/>
            <a:ext cx="752525" cy="105500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30064" y="8554999"/>
            <a:ext cx="1054049" cy="98724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45657" y="8465566"/>
            <a:ext cx="1100924" cy="107012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85836" y="8426678"/>
            <a:ext cx="1100924" cy="110092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86977" y="8454504"/>
            <a:ext cx="1034163" cy="121666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466323" y="8443124"/>
            <a:ext cx="1102601" cy="135763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896725" y="8580793"/>
            <a:ext cx="1114425" cy="125276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512793" y="8454491"/>
            <a:ext cx="950060" cy="137045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368019" y="8612390"/>
            <a:ext cx="2861016" cy="105468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264402" y="9670186"/>
            <a:ext cx="778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Fast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65211" y="9658604"/>
            <a:ext cx="921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Tokenizer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55794" y="9658604"/>
            <a:ext cx="708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Python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05200" y="9658604"/>
            <a:ext cx="93739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10" dirty="0">
                <a:latin typeface="Calibri"/>
                <a:cs typeface="Calibri"/>
              </a:rPr>
              <a:t>S</a:t>
            </a:r>
            <a:r>
              <a:rPr lang="en-IN" b="1" spc="-10" dirty="0" err="1">
                <a:latin typeface="Calibri"/>
                <a:cs typeface="Calibri"/>
              </a:rPr>
              <a:t>treamlit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27" name="Picture 26" descr="Streamlit SVG and transparent PNG icons | TechIcons">
            <a:extLst>
              <a:ext uri="{FF2B5EF4-FFF2-40B4-BE49-F238E27FC236}">
                <a16:creationId xmlns:a16="http://schemas.microsoft.com/office/drawing/2014/main" id="{C388BC9B-927B-55F2-34BD-36F95BA8968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58443" y="8676209"/>
            <a:ext cx="993311" cy="9823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2386" y="1252647"/>
            <a:ext cx="2140585" cy="137795"/>
            <a:chOff x="552386" y="1252647"/>
            <a:chExt cx="2140585" cy="137795"/>
          </a:xfrm>
        </p:grpSpPr>
        <p:sp>
          <p:nvSpPr>
            <p:cNvPr id="3" name="object 3"/>
            <p:cNvSpPr/>
            <p:nvPr/>
          </p:nvSpPr>
          <p:spPr>
            <a:xfrm>
              <a:off x="561572" y="1258757"/>
              <a:ext cx="2122170" cy="111760"/>
            </a:xfrm>
            <a:custGeom>
              <a:avLst/>
              <a:gdLst/>
              <a:ahLst/>
              <a:cxnLst/>
              <a:rect l="l" t="t" r="r" b="b"/>
              <a:pathLst>
                <a:path w="2122170" h="111759">
                  <a:moveTo>
                    <a:pt x="2122035" y="0"/>
                  </a:moveTo>
                  <a:lnTo>
                    <a:pt x="0" y="0"/>
                  </a:lnTo>
                  <a:lnTo>
                    <a:pt x="0" y="111656"/>
                  </a:lnTo>
                  <a:lnTo>
                    <a:pt x="2122035" y="111656"/>
                  </a:lnTo>
                  <a:lnTo>
                    <a:pt x="212203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52386" y="1252647"/>
              <a:ext cx="2140585" cy="124460"/>
            </a:xfrm>
            <a:custGeom>
              <a:avLst/>
              <a:gdLst/>
              <a:ahLst/>
              <a:cxnLst/>
              <a:rect l="l" t="t" r="r" b="b"/>
              <a:pathLst>
                <a:path w="2140585" h="124459">
                  <a:moveTo>
                    <a:pt x="2136427" y="0"/>
                  </a:moveTo>
                  <a:lnTo>
                    <a:pt x="4141" y="0"/>
                  </a:lnTo>
                  <a:lnTo>
                    <a:pt x="0" y="2806"/>
                  </a:lnTo>
                  <a:lnTo>
                    <a:pt x="0" y="121175"/>
                  </a:lnTo>
                  <a:lnTo>
                    <a:pt x="4141" y="123876"/>
                  </a:lnTo>
                  <a:lnTo>
                    <a:pt x="2136273" y="123876"/>
                  </a:lnTo>
                  <a:lnTo>
                    <a:pt x="2140332" y="121175"/>
                  </a:lnTo>
                  <a:lnTo>
                    <a:pt x="2140332" y="111469"/>
                  </a:lnTo>
                  <a:lnTo>
                    <a:pt x="18372" y="111469"/>
                  </a:lnTo>
                  <a:lnTo>
                    <a:pt x="18372" y="12406"/>
                  </a:lnTo>
                  <a:lnTo>
                    <a:pt x="2140331" y="12406"/>
                  </a:lnTo>
                  <a:lnTo>
                    <a:pt x="2140331" y="2806"/>
                  </a:lnTo>
                  <a:lnTo>
                    <a:pt x="2136427" y="0"/>
                  </a:lnTo>
                  <a:close/>
                </a:path>
                <a:path w="2140585" h="124459">
                  <a:moveTo>
                    <a:pt x="2140408" y="12406"/>
                  </a:moveTo>
                  <a:lnTo>
                    <a:pt x="2122035" y="12406"/>
                  </a:lnTo>
                  <a:lnTo>
                    <a:pt x="2122035" y="111469"/>
                  </a:lnTo>
                  <a:lnTo>
                    <a:pt x="2140408" y="111469"/>
                  </a:lnTo>
                  <a:lnTo>
                    <a:pt x="2140408" y="12406"/>
                  </a:lnTo>
                  <a:close/>
                </a:path>
              </a:pathLst>
            </a:custGeom>
            <a:solidFill>
              <a:srgbClr val="1C3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0839" y="1272345"/>
              <a:ext cx="1978025" cy="111760"/>
            </a:xfrm>
            <a:custGeom>
              <a:avLst/>
              <a:gdLst/>
              <a:ahLst/>
              <a:cxnLst/>
              <a:rect l="l" t="t" r="r" b="b"/>
              <a:pathLst>
                <a:path w="1978025" h="111759">
                  <a:moveTo>
                    <a:pt x="1977925" y="0"/>
                  </a:moveTo>
                  <a:lnTo>
                    <a:pt x="0" y="0"/>
                  </a:lnTo>
                  <a:lnTo>
                    <a:pt x="0" y="111656"/>
                  </a:lnTo>
                  <a:lnTo>
                    <a:pt x="1977925" y="111656"/>
                  </a:lnTo>
                  <a:lnTo>
                    <a:pt x="197792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2277" y="1266235"/>
              <a:ext cx="1995170" cy="124460"/>
            </a:xfrm>
            <a:custGeom>
              <a:avLst/>
              <a:gdLst/>
              <a:ahLst/>
              <a:cxnLst/>
              <a:rect l="l" t="t" r="r" b="b"/>
              <a:pathLst>
                <a:path w="1995170" h="124459">
                  <a:moveTo>
                    <a:pt x="1991340" y="0"/>
                  </a:moveTo>
                  <a:lnTo>
                    <a:pt x="3859" y="0"/>
                  </a:lnTo>
                  <a:lnTo>
                    <a:pt x="0" y="2807"/>
                  </a:lnTo>
                  <a:lnTo>
                    <a:pt x="0" y="121175"/>
                  </a:lnTo>
                  <a:lnTo>
                    <a:pt x="3860" y="123876"/>
                  </a:lnTo>
                  <a:lnTo>
                    <a:pt x="1991197" y="123876"/>
                  </a:lnTo>
                  <a:lnTo>
                    <a:pt x="1994978" y="121176"/>
                  </a:lnTo>
                  <a:lnTo>
                    <a:pt x="1994979" y="111471"/>
                  </a:lnTo>
                  <a:lnTo>
                    <a:pt x="17124" y="111470"/>
                  </a:lnTo>
                  <a:lnTo>
                    <a:pt x="17124" y="12406"/>
                  </a:lnTo>
                  <a:lnTo>
                    <a:pt x="1994979" y="12407"/>
                  </a:lnTo>
                  <a:lnTo>
                    <a:pt x="1994979" y="2808"/>
                  </a:lnTo>
                  <a:lnTo>
                    <a:pt x="1991340" y="0"/>
                  </a:lnTo>
                  <a:close/>
                </a:path>
                <a:path w="1995170" h="124459">
                  <a:moveTo>
                    <a:pt x="1995050" y="12407"/>
                  </a:moveTo>
                  <a:lnTo>
                    <a:pt x="1977925" y="12407"/>
                  </a:lnTo>
                  <a:lnTo>
                    <a:pt x="1977925" y="111471"/>
                  </a:lnTo>
                  <a:lnTo>
                    <a:pt x="1995050" y="111471"/>
                  </a:lnTo>
                  <a:lnTo>
                    <a:pt x="1995050" y="12407"/>
                  </a:lnTo>
                  <a:close/>
                </a:path>
              </a:pathLst>
            </a:custGeom>
            <a:solidFill>
              <a:srgbClr val="1C3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67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Feasibility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577931" y="6129447"/>
            <a:ext cx="1818005" cy="124460"/>
            <a:chOff x="577931" y="6129447"/>
            <a:chExt cx="1818005" cy="124460"/>
          </a:xfrm>
        </p:grpSpPr>
        <p:sp>
          <p:nvSpPr>
            <p:cNvPr id="10" name="object 10"/>
            <p:cNvSpPr/>
            <p:nvPr/>
          </p:nvSpPr>
          <p:spPr>
            <a:xfrm>
              <a:off x="585732" y="6135557"/>
              <a:ext cx="1802130" cy="111760"/>
            </a:xfrm>
            <a:custGeom>
              <a:avLst/>
              <a:gdLst/>
              <a:ahLst/>
              <a:cxnLst/>
              <a:rect l="l" t="t" r="r" b="b"/>
              <a:pathLst>
                <a:path w="1802130" h="111760">
                  <a:moveTo>
                    <a:pt x="1802069" y="0"/>
                  </a:moveTo>
                  <a:lnTo>
                    <a:pt x="0" y="0"/>
                  </a:lnTo>
                  <a:lnTo>
                    <a:pt x="0" y="111656"/>
                  </a:lnTo>
                  <a:lnTo>
                    <a:pt x="1802069" y="111656"/>
                  </a:lnTo>
                  <a:lnTo>
                    <a:pt x="1802069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7931" y="6129447"/>
              <a:ext cx="1818005" cy="124460"/>
            </a:xfrm>
            <a:custGeom>
              <a:avLst/>
              <a:gdLst/>
              <a:ahLst/>
              <a:cxnLst/>
              <a:rect l="l" t="t" r="r" b="b"/>
              <a:pathLst>
                <a:path w="1818005" h="124460">
                  <a:moveTo>
                    <a:pt x="1814291" y="0"/>
                  </a:moveTo>
                  <a:lnTo>
                    <a:pt x="3516" y="0"/>
                  </a:lnTo>
                  <a:lnTo>
                    <a:pt x="0" y="2807"/>
                  </a:lnTo>
                  <a:lnTo>
                    <a:pt x="0" y="121175"/>
                  </a:lnTo>
                  <a:lnTo>
                    <a:pt x="3517" y="123876"/>
                  </a:lnTo>
                  <a:lnTo>
                    <a:pt x="1814161" y="123876"/>
                  </a:lnTo>
                  <a:lnTo>
                    <a:pt x="1817606" y="121176"/>
                  </a:lnTo>
                  <a:lnTo>
                    <a:pt x="1817607" y="111470"/>
                  </a:lnTo>
                  <a:lnTo>
                    <a:pt x="15602" y="111470"/>
                  </a:lnTo>
                  <a:lnTo>
                    <a:pt x="15602" y="12406"/>
                  </a:lnTo>
                  <a:lnTo>
                    <a:pt x="1817607" y="12406"/>
                  </a:lnTo>
                  <a:lnTo>
                    <a:pt x="1817607" y="2807"/>
                  </a:lnTo>
                  <a:lnTo>
                    <a:pt x="1814291" y="0"/>
                  </a:lnTo>
                  <a:close/>
                </a:path>
                <a:path w="1818005" h="124460">
                  <a:moveTo>
                    <a:pt x="1817672" y="12406"/>
                  </a:moveTo>
                  <a:lnTo>
                    <a:pt x="1802069" y="12406"/>
                  </a:lnTo>
                  <a:lnTo>
                    <a:pt x="1802069" y="111470"/>
                  </a:lnTo>
                  <a:lnTo>
                    <a:pt x="1817672" y="111470"/>
                  </a:lnTo>
                  <a:lnTo>
                    <a:pt x="1817672" y="12406"/>
                  </a:lnTo>
                  <a:close/>
                </a:path>
              </a:pathLst>
            </a:custGeom>
            <a:solidFill>
              <a:srgbClr val="1C3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07340" y="1660906"/>
            <a:ext cx="8450580" cy="840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5775" marR="482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85775" algn="l"/>
              </a:tabLst>
            </a:pP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technologies: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ASR,</a:t>
            </a:r>
            <a:r>
              <a:rPr sz="2400" spc="-10" dirty="0">
                <a:latin typeface="Times New Roman"/>
                <a:cs typeface="Times New Roman"/>
              </a:rPr>
              <a:t> LLM-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repair,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spc="-40" dirty="0">
                <a:latin typeface="Times New Roman"/>
                <a:cs typeface="Times New Roman"/>
              </a:rPr>
              <a:t>Text-</a:t>
            </a:r>
            <a:r>
              <a:rPr sz="2400" spc="-10" dirty="0">
                <a:latin typeface="Times New Roman"/>
                <a:cs typeface="Times New Roman"/>
              </a:rPr>
              <a:t>to-Speech</a:t>
            </a:r>
            <a:endParaRPr sz="2400">
              <a:latin typeface="Times New Roman"/>
              <a:cs typeface="Times New Roman"/>
            </a:endParaRPr>
          </a:p>
          <a:p>
            <a:pPr marL="485775" indent="-342900">
              <a:lnSpc>
                <a:spcPct val="100000"/>
              </a:lnSpc>
              <a:buFont typeface="Arial MT"/>
              <a:buChar char="•"/>
              <a:tabLst>
                <a:tab pos="485775" algn="l"/>
              </a:tabLst>
            </a:pPr>
            <a:r>
              <a:rPr sz="2400" dirty="0">
                <a:latin typeface="Times New Roman"/>
                <a:cs typeface="Times New Roman"/>
              </a:rPr>
              <a:t>Modular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pipeline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(speech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 text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repair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speech) </a:t>
            </a:r>
            <a:r>
              <a:rPr sz="2400" spc="-10" dirty="0">
                <a:latin typeface="Times New Roman"/>
                <a:cs typeface="Times New Roman"/>
              </a:rPr>
              <a:t>makes</a:t>
            </a:r>
            <a:endParaRPr sz="2400">
              <a:latin typeface="Times New Roman"/>
              <a:cs typeface="Times New Roman"/>
            </a:endParaRPr>
          </a:p>
          <a:p>
            <a:pPr marL="48577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implementation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easier</a:t>
            </a:r>
            <a:endParaRPr sz="2400">
              <a:latin typeface="Times New Roman"/>
              <a:cs typeface="Times New Roman"/>
            </a:endParaRPr>
          </a:p>
          <a:p>
            <a:pPr marL="485775" marR="186690" indent="-342900">
              <a:lnSpc>
                <a:spcPct val="100000"/>
              </a:lnSpc>
              <a:buFont typeface="Arial MT"/>
              <a:buChar char="•"/>
              <a:tabLst>
                <a:tab pos="485775" algn="l"/>
              </a:tabLst>
            </a:pPr>
            <a:r>
              <a:rPr sz="2400" dirty="0">
                <a:latin typeface="Times New Roman"/>
                <a:cs typeface="Times New Roman"/>
              </a:rPr>
              <a:t>Proven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improvements: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reduced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WER,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better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semantic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accuracy,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satisfaction</a:t>
            </a:r>
            <a:endParaRPr sz="2400">
              <a:latin typeface="Times New Roman"/>
              <a:cs typeface="Times New Roman"/>
            </a:endParaRPr>
          </a:p>
          <a:p>
            <a:pPr marL="485775" indent="-342900">
              <a:lnSpc>
                <a:spcPct val="100000"/>
              </a:lnSpc>
              <a:buFont typeface="Arial MT"/>
              <a:buChar char="•"/>
              <a:tabLst>
                <a:tab pos="485775" algn="l"/>
              </a:tabLst>
            </a:pP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possible</a:t>
            </a:r>
            <a:endParaRPr sz="2400">
              <a:latin typeface="Times New Roman"/>
              <a:cs typeface="Times New Roman"/>
            </a:endParaRPr>
          </a:p>
          <a:p>
            <a:pPr marL="485775" marR="492759" indent="-342900">
              <a:lnSpc>
                <a:spcPct val="100000"/>
              </a:lnSpc>
              <a:buFont typeface="Arial MT"/>
              <a:buChar char="•"/>
              <a:tabLst>
                <a:tab pos="485775" algn="l"/>
              </a:tabLst>
            </a:pPr>
            <a:r>
              <a:rPr sz="2400" dirty="0">
                <a:latin typeface="Times New Roman"/>
                <a:cs typeface="Times New Roman"/>
              </a:rPr>
              <a:t>Requires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computational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power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(GPU,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APIs)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latency optimization</a:t>
            </a:r>
            <a:endParaRPr sz="2400">
              <a:latin typeface="Times New Roman"/>
              <a:cs typeface="Times New Roman"/>
            </a:endParaRPr>
          </a:p>
          <a:p>
            <a:pPr marL="485775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85775" algn="l"/>
              </a:tabLst>
            </a:pPr>
            <a:r>
              <a:rPr sz="2400" dirty="0">
                <a:latin typeface="Times New Roman"/>
                <a:cs typeface="Times New Roman"/>
              </a:rPr>
              <a:t>Dependent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accuracy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performance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1680"/>
              </a:spcBef>
            </a:pPr>
            <a:r>
              <a:rPr sz="3600" b="1" spc="-10" dirty="0">
                <a:solidFill>
                  <a:srgbClr val="0F0F0F"/>
                </a:solidFill>
                <a:latin typeface="Times New Roman"/>
                <a:cs typeface="Times New Roman"/>
              </a:rPr>
              <a:t>Viability</a:t>
            </a:r>
            <a:endParaRPr sz="3600">
              <a:latin typeface="Times New Roman"/>
              <a:cs typeface="Times New Roman"/>
            </a:endParaRPr>
          </a:p>
          <a:p>
            <a:pPr marL="353060" marR="474345" indent="-340360" algn="just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Solves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major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accessibility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issue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people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stutter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(large 	</a:t>
            </a:r>
            <a:r>
              <a:rPr sz="2400" dirty="0">
                <a:latin typeface="Times New Roman"/>
                <a:cs typeface="Times New Roman"/>
              </a:rPr>
              <a:t>global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need)Increasing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demand with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voice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assistants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&amp; 	</a:t>
            </a:r>
            <a:r>
              <a:rPr sz="2400" dirty="0">
                <a:latin typeface="Times New Roman"/>
                <a:cs typeface="Times New Roman"/>
              </a:rPr>
              <a:t>remote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communication</a:t>
            </a:r>
            <a:endParaRPr sz="2400">
              <a:latin typeface="Times New Roman"/>
              <a:cs typeface="Times New Roman"/>
            </a:endParaRPr>
          </a:p>
          <a:p>
            <a:pPr marL="355600" marR="9779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applications: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meetings,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interviews,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centers,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assistive tools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Revenue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potential: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enterprise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integrations,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healthcare sector</a:t>
            </a:r>
            <a:endParaRPr sz="2400">
              <a:latin typeface="Times New Roman"/>
              <a:cs typeface="Times New Roman"/>
            </a:endParaRPr>
          </a:p>
          <a:p>
            <a:pPr marL="355600" marR="3302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Competitive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advantage: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end-</a:t>
            </a:r>
            <a:r>
              <a:rPr sz="2400" spc="-10" dirty="0">
                <a:latin typeface="Times New Roman"/>
                <a:cs typeface="Times New Roman"/>
              </a:rPr>
              <a:t>to-</a:t>
            </a:r>
            <a:r>
              <a:rPr sz="2400" dirty="0">
                <a:latin typeface="Times New Roman"/>
                <a:cs typeface="Times New Roman"/>
              </a:rPr>
              <a:t>end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solution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(repair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0" dirty="0">
                <a:latin typeface="Times New Roman"/>
                <a:cs typeface="Times New Roman"/>
              </a:rPr>
              <a:t> synthesis,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detection)Scalable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disorders</a:t>
            </a:r>
            <a:r>
              <a:rPr sz="2400" spc="-25" dirty="0">
                <a:latin typeface="Times New Roman"/>
                <a:cs typeface="Times New Roman"/>
              </a:rPr>
              <a:t> and </a:t>
            </a:r>
            <a:r>
              <a:rPr sz="2400" dirty="0">
                <a:latin typeface="Times New Roman"/>
                <a:cs typeface="Times New Roman"/>
              </a:rPr>
              <a:t>multilingual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2581" y="2380394"/>
            <a:ext cx="7654356" cy="624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0783" y="1185770"/>
            <a:ext cx="1558925" cy="165735"/>
            <a:chOff x="880783" y="1185770"/>
            <a:chExt cx="1558925" cy="165735"/>
          </a:xfrm>
        </p:grpSpPr>
        <p:sp>
          <p:nvSpPr>
            <p:cNvPr id="3" name="object 3"/>
            <p:cNvSpPr/>
            <p:nvPr/>
          </p:nvSpPr>
          <p:spPr>
            <a:xfrm>
              <a:off x="888242" y="1193484"/>
              <a:ext cx="1544320" cy="150495"/>
            </a:xfrm>
            <a:custGeom>
              <a:avLst/>
              <a:gdLst/>
              <a:ahLst/>
              <a:cxnLst/>
              <a:rect l="l" t="t" r="r" b="b"/>
              <a:pathLst>
                <a:path w="1544320" h="150494">
                  <a:moveTo>
                    <a:pt x="1544183" y="0"/>
                  </a:moveTo>
                  <a:lnTo>
                    <a:pt x="0" y="0"/>
                  </a:lnTo>
                  <a:lnTo>
                    <a:pt x="0" y="149873"/>
                  </a:lnTo>
                  <a:lnTo>
                    <a:pt x="1544183" y="149874"/>
                  </a:lnTo>
                  <a:lnTo>
                    <a:pt x="1544183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80783" y="1185770"/>
              <a:ext cx="1558925" cy="165735"/>
            </a:xfrm>
            <a:custGeom>
              <a:avLst/>
              <a:gdLst/>
              <a:ahLst/>
              <a:cxnLst/>
              <a:rect l="l" t="t" r="r" b="b"/>
              <a:pathLst>
                <a:path w="1558925" h="165734">
                  <a:moveTo>
                    <a:pt x="1555746" y="0"/>
                  </a:moveTo>
                  <a:lnTo>
                    <a:pt x="3388" y="0"/>
                  </a:lnTo>
                  <a:lnTo>
                    <a:pt x="0" y="3964"/>
                  </a:lnTo>
                  <a:lnTo>
                    <a:pt x="0" y="161376"/>
                  </a:lnTo>
                  <a:lnTo>
                    <a:pt x="3363" y="165301"/>
                  </a:lnTo>
                  <a:lnTo>
                    <a:pt x="1555746" y="165302"/>
                  </a:lnTo>
                  <a:lnTo>
                    <a:pt x="1558854" y="161610"/>
                  </a:lnTo>
                  <a:lnTo>
                    <a:pt x="1558854" y="147670"/>
                  </a:lnTo>
                  <a:lnTo>
                    <a:pt x="14919" y="147669"/>
                  </a:lnTo>
                  <a:lnTo>
                    <a:pt x="14919" y="17629"/>
                  </a:lnTo>
                  <a:lnTo>
                    <a:pt x="1558854" y="17629"/>
                  </a:lnTo>
                  <a:lnTo>
                    <a:pt x="1558854" y="3670"/>
                  </a:lnTo>
                  <a:lnTo>
                    <a:pt x="1555746" y="0"/>
                  </a:lnTo>
                  <a:close/>
                </a:path>
                <a:path w="1558925" h="165734">
                  <a:moveTo>
                    <a:pt x="1558854" y="17629"/>
                  </a:moveTo>
                  <a:lnTo>
                    <a:pt x="1544183" y="17629"/>
                  </a:lnTo>
                  <a:lnTo>
                    <a:pt x="1544183" y="147670"/>
                  </a:lnTo>
                  <a:lnTo>
                    <a:pt x="1558854" y="147670"/>
                  </a:lnTo>
                  <a:lnTo>
                    <a:pt x="1558854" y="17629"/>
                  </a:lnTo>
                  <a:close/>
                </a:path>
              </a:pathLst>
            </a:custGeom>
            <a:solidFill>
              <a:srgbClr val="1C3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0519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Impacts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1584706"/>
            <a:ext cx="8463280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786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Improves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speech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accessibility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-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converts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spoken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into </a:t>
            </a:r>
            <a:r>
              <a:rPr sz="2400" dirty="0">
                <a:latin typeface="Times New Roman"/>
                <a:cs typeface="Times New Roman"/>
              </a:rPr>
              <a:t>accurate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everyone.</a:t>
            </a:r>
            <a:endParaRPr sz="2400">
              <a:latin typeface="Times New Roman"/>
              <a:cs typeface="Times New Roman"/>
            </a:endParaRPr>
          </a:p>
          <a:p>
            <a:pPr marL="355600" marR="130556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Handles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real-</a:t>
            </a:r>
            <a:r>
              <a:rPr sz="2400" b="1" dirty="0">
                <a:latin typeface="Times New Roman"/>
                <a:cs typeface="Times New Roman"/>
              </a:rPr>
              <a:t>world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speech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issues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corrects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stuttering, </a:t>
            </a:r>
            <a:r>
              <a:rPr sz="2400" dirty="0">
                <a:latin typeface="Times New Roman"/>
                <a:cs typeface="Times New Roman"/>
              </a:rPr>
              <a:t>repetitions,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mispronunciations.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Enhances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user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communication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commands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messages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understood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accurately.</a:t>
            </a:r>
            <a:endParaRPr sz="2400">
              <a:latin typeface="Times New Roman"/>
              <a:cs typeface="Times New Roman"/>
            </a:endParaRPr>
          </a:p>
          <a:p>
            <a:pPr marL="355600" marR="214629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Reduces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human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intervention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minimizes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manually </a:t>
            </a:r>
            <a:r>
              <a:rPr sz="2400" dirty="0">
                <a:latin typeface="Times New Roman"/>
                <a:cs typeface="Times New Roman"/>
              </a:rPr>
              <a:t>correct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errors.</a:t>
            </a:r>
            <a:endParaRPr sz="2400">
              <a:latin typeface="Times New Roman"/>
              <a:cs typeface="Times New Roman"/>
            </a:endParaRPr>
          </a:p>
          <a:p>
            <a:pPr marL="355600" marR="58419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Supports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natural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interaction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speak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naturally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without </a:t>
            </a:r>
            <a:r>
              <a:rPr sz="2400" dirty="0">
                <a:latin typeface="Times New Roman"/>
                <a:cs typeface="Times New Roman"/>
              </a:rPr>
              <a:t>worrying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misrecognition.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6309740"/>
            <a:ext cx="846772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Time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saving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don’t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repeat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themselves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edit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text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manually.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Improved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accuracy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precision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speech-</a:t>
            </a:r>
            <a:r>
              <a:rPr sz="2400" spc="-10" dirty="0">
                <a:latin typeface="Times New Roman"/>
                <a:cs typeface="Times New Roman"/>
              </a:rPr>
              <a:t>to-</a:t>
            </a:r>
            <a:r>
              <a:rPr sz="2400" spc="-20" dirty="0">
                <a:latin typeface="Times New Roman"/>
                <a:cs typeface="Times New Roman"/>
              </a:rPr>
              <a:t>text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conversion.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Better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user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experience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understandable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5" dirty="0">
                <a:latin typeface="Times New Roman"/>
                <a:cs typeface="Times New Roman"/>
              </a:rPr>
              <a:t> the </a:t>
            </a:r>
            <a:r>
              <a:rPr sz="2400" spc="-10" dirty="0">
                <a:latin typeface="Times New Roman"/>
                <a:cs typeface="Times New Roman"/>
              </a:rPr>
              <a:t>system.</a:t>
            </a:r>
            <a:endParaRPr sz="2400">
              <a:latin typeface="Times New Roman"/>
              <a:cs typeface="Times New Roman"/>
            </a:endParaRPr>
          </a:p>
          <a:p>
            <a:pPr marL="355600" marR="154622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Scalable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solution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voice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assistants, </a:t>
            </a:r>
            <a:r>
              <a:rPr sz="2400" dirty="0">
                <a:latin typeface="Times New Roman"/>
                <a:cs typeface="Times New Roman"/>
              </a:rPr>
              <a:t>transcription,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accessibility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tools.</a:t>
            </a:r>
            <a:endParaRPr sz="2400">
              <a:latin typeface="Times New Roman"/>
              <a:cs typeface="Times New Roman"/>
            </a:endParaRPr>
          </a:p>
          <a:p>
            <a:pPr marL="355600" marR="11557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Adaptive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learning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multi-agent </a:t>
            </a:r>
            <a:r>
              <a:rPr sz="2400" dirty="0">
                <a:latin typeface="Times New Roman"/>
                <a:cs typeface="Times New Roman"/>
              </a:rPr>
              <a:t>repair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LLM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enhancements.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5380101"/>
            <a:ext cx="1599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0F0F0F"/>
                </a:solidFill>
                <a:latin typeface="Times New Roman"/>
                <a:cs typeface="Times New Roman"/>
              </a:rPr>
              <a:t>Benefits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56983" y="5958838"/>
            <a:ext cx="1558925" cy="172085"/>
            <a:chOff x="956983" y="5958838"/>
            <a:chExt cx="1558925" cy="172085"/>
          </a:xfrm>
        </p:grpSpPr>
        <p:sp>
          <p:nvSpPr>
            <p:cNvPr id="11" name="object 11"/>
            <p:cNvSpPr/>
            <p:nvPr/>
          </p:nvSpPr>
          <p:spPr>
            <a:xfrm>
              <a:off x="964442" y="5966844"/>
              <a:ext cx="1544320" cy="155575"/>
            </a:xfrm>
            <a:custGeom>
              <a:avLst/>
              <a:gdLst/>
              <a:ahLst/>
              <a:cxnLst/>
              <a:rect l="l" t="t" r="r" b="b"/>
              <a:pathLst>
                <a:path w="1544320" h="155575">
                  <a:moveTo>
                    <a:pt x="1544183" y="0"/>
                  </a:moveTo>
                  <a:lnTo>
                    <a:pt x="0" y="0"/>
                  </a:lnTo>
                  <a:lnTo>
                    <a:pt x="0" y="155549"/>
                  </a:lnTo>
                  <a:lnTo>
                    <a:pt x="1544183" y="155550"/>
                  </a:lnTo>
                  <a:lnTo>
                    <a:pt x="1544183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6983" y="5958838"/>
              <a:ext cx="1558925" cy="172085"/>
            </a:xfrm>
            <a:custGeom>
              <a:avLst/>
              <a:gdLst/>
              <a:ahLst/>
              <a:cxnLst/>
              <a:rect l="l" t="t" r="r" b="b"/>
              <a:pathLst>
                <a:path w="1558925" h="172085">
                  <a:moveTo>
                    <a:pt x="1555746" y="0"/>
                  </a:moveTo>
                  <a:lnTo>
                    <a:pt x="3388" y="0"/>
                  </a:lnTo>
                  <a:lnTo>
                    <a:pt x="0" y="4114"/>
                  </a:lnTo>
                  <a:lnTo>
                    <a:pt x="0" y="167488"/>
                  </a:lnTo>
                  <a:lnTo>
                    <a:pt x="3362" y="171562"/>
                  </a:lnTo>
                  <a:lnTo>
                    <a:pt x="1555746" y="171562"/>
                  </a:lnTo>
                  <a:lnTo>
                    <a:pt x="1558854" y="167731"/>
                  </a:lnTo>
                  <a:lnTo>
                    <a:pt x="1558854" y="153262"/>
                  </a:lnTo>
                  <a:lnTo>
                    <a:pt x="14919" y="153262"/>
                  </a:lnTo>
                  <a:lnTo>
                    <a:pt x="14919" y="18296"/>
                  </a:lnTo>
                  <a:lnTo>
                    <a:pt x="1558854" y="18296"/>
                  </a:lnTo>
                  <a:lnTo>
                    <a:pt x="1558854" y="3809"/>
                  </a:lnTo>
                  <a:lnTo>
                    <a:pt x="1555746" y="0"/>
                  </a:lnTo>
                  <a:close/>
                </a:path>
                <a:path w="1558925" h="172085">
                  <a:moveTo>
                    <a:pt x="1558854" y="18296"/>
                  </a:moveTo>
                  <a:lnTo>
                    <a:pt x="1544183" y="18296"/>
                  </a:lnTo>
                  <a:lnTo>
                    <a:pt x="1544183" y="153262"/>
                  </a:lnTo>
                  <a:lnTo>
                    <a:pt x="1558854" y="153262"/>
                  </a:lnTo>
                  <a:lnTo>
                    <a:pt x="1558854" y="18296"/>
                  </a:lnTo>
                  <a:close/>
                </a:path>
              </a:pathLst>
            </a:custGeom>
            <a:solidFill>
              <a:srgbClr val="1C3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0903" y="2101380"/>
            <a:ext cx="8229599" cy="70650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74502" y="1494406"/>
            <a:ext cx="2807970" cy="111760"/>
            <a:chOff x="1074502" y="1494406"/>
            <a:chExt cx="2807970" cy="111760"/>
          </a:xfrm>
        </p:grpSpPr>
        <p:sp>
          <p:nvSpPr>
            <p:cNvPr id="3" name="object 3"/>
            <p:cNvSpPr/>
            <p:nvPr/>
          </p:nvSpPr>
          <p:spPr>
            <a:xfrm>
              <a:off x="1074509" y="1499591"/>
              <a:ext cx="2793365" cy="100965"/>
            </a:xfrm>
            <a:custGeom>
              <a:avLst/>
              <a:gdLst/>
              <a:ahLst/>
              <a:cxnLst/>
              <a:rect l="l" t="t" r="r" b="b"/>
              <a:pathLst>
                <a:path w="2793365" h="100965">
                  <a:moveTo>
                    <a:pt x="2792907" y="0"/>
                  </a:moveTo>
                  <a:lnTo>
                    <a:pt x="0" y="0"/>
                  </a:lnTo>
                  <a:lnTo>
                    <a:pt x="0" y="100826"/>
                  </a:lnTo>
                  <a:lnTo>
                    <a:pt x="2792907" y="100826"/>
                  </a:lnTo>
                  <a:lnTo>
                    <a:pt x="2792907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74502" y="1494406"/>
              <a:ext cx="2807970" cy="111760"/>
            </a:xfrm>
            <a:custGeom>
              <a:avLst/>
              <a:gdLst/>
              <a:ahLst/>
              <a:cxnLst/>
              <a:rect l="l" t="t" r="r" b="b"/>
              <a:pathLst>
                <a:path w="2807970" h="111759">
                  <a:moveTo>
                    <a:pt x="2800754" y="0"/>
                  </a:moveTo>
                  <a:lnTo>
                    <a:pt x="6677" y="0"/>
                  </a:lnTo>
                  <a:lnTo>
                    <a:pt x="0" y="2671"/>
                  </a:lnTo>
                  <a:lnTo>
                    <a:pt x="0" y="108555"/>
                  </a:lnTo>
                  <a:lnTo>
                    <a:pt x="6625" y="111195"/>
                  </a:lnTo>
                  <a:lnTo>
                    <a:pt x="2800753" y="111195"/>
                  </a:lnTo>
                  <a:lnTo>
                    <a:pt x="2807265" y="108555"/>
                  </a:lnTo>
                  <a:lnTo>
                    <a:pt x="2807369" y="99334"/>
                  </a:lnTo>
                  <a:lnTo>
                    <a:pt x="29396" y="99334"/>
                  </a:lnTo>
                  <a:lnTo>
                    <a:pt x="29396" y="11859"/>
                  </a:lnTo>
                  <a:lnTo>
                    <a:pt x="2807369" y="11859"/>
                  </a:lnTo>
                  <a:lnTo>
                    <a:pt x="2807369" y="2671"/>
                  </a:lnTo>
                  <a:lnTo>
                    <a:pt x="2800754" y="0"/>
                  </a:lnTo>
                  <a:close/>
                </a:path>
                <a:path w="2807970" h="111759">
                  <a:moveTo>
                    <a:pt x="2807369" y="11859"/>
                  </a:moveTo>
                  <a:lnTo>
                    <a:pt x="2777970" y="11859"/>
                  </a:lnTo>
                  <a:lnTo>
                    <a:pt x="2777970" y="99334"/>
                  </a:lnTo>
                  <a:lnTo>
                    <a:pt x="2807369" y="99334"/>
                  </a:lnTo>
                  <a:lnTo>
                    <a:pt x="2807369" y="11859"/>
                  </a:lnTo>
                  <a:close/>
                </a:path>
              </a:pathLst>
            </a:custGeom>
            <a:solidFill>
              <a:srgbClr val="1C3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1659" y="185293"/>
            <a:ext cx="4474465" cy="12980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3630" marR="5080" indent="-523240">
              <a:lnSpc>
                <a:spcPct val="115599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-180" dirty="0"/>
              <a:t> </a:t>
            </a:r>
            <a:r>
              <a:rPr spc="-25" dirty="0"/>
              <a:t>and </a:t>
            </a:r>
            <a:r>
              <a:rPr spc="-20" dirty="0"/>
              <a:t>References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94408" y="4594859"/>
            <a:ext cx="784098" cy="6408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30300" y="2106930"/>
            <a:ext cx="13917930" cy="5878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5410" indent="430530">
              <a:lnSpc>
                <a:spcPct val="100000"/>
              </a:lnSpc>
              <a:spcBef>
                <a:spcPts val="100"/>
              </a:spcBef>
              <a:buFont typeface="Times New Roman"/>
              <a:buAutoNum type="arabicPlain"/>
              <a:tabLst>
                <a:tab pos="443230" algn="l"/>
              </a:tabLst>
            </a:pPr>
            <a:r>
              <a:rPr sz="2400" dirty="0">
                <a:latin typeface="Times New Roman"/>
                <a:cs typeface="Times New Roman"/>
              </a:rPr>
              <a:t>Z.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Xu,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Y.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Liu,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Y.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Shi,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Wang,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Y.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Zhao,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"STEAMROLLER: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multi-agent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system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inclusive </a:t>
            </a:r>
            <a:r>
              <a:rPr sz="2400" b="1" dirty="0">
                <a:latin typeface="Times New Roman"/>
                <a:cs typeface="Times New Roman"/>
              </a:rPr>
              <a:t>automatic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speech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recognition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people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who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stutter"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arXiv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preprint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arXiv:2601.10223,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Jan.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2026. 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https://arxiv.org/abs/2601.10223</a:t>
            </a:r>
            <a:endParaRPr sz="2400" dirty="0">
              <a:latin typeface="Times New Roman"/>
              <a:cs typeface="Times New Roman"/>
            </a:endParaRPr>
          </a:p>
          <a:p>
            <a:pPr marL="12700" marR="5080" indent="414020">
              <a:lnSpc>
                <a:spcPct val="100000"/>
              </a:lnSpc>
              <a:buFont typeface="Times New Roman"/>
              <a:buAutoNum type="arabicPlain"/>
              <a:tabLst>
                <a:tab pos="426720" algn="l"/>
              </a:tabLst>
            </a:pPr>
            <a:r>
              <a:rPr sz="2400" dirty="0">
                <a:latin typeface="Times New Roman"/>
                <a:cs typeface="Times New Roman"/>
              </a:rPr>
              <a:t>A.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Radford,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J.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W.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Kim,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T. </a:t>
            </a:r>
            <a:r>
              <a:rPr sz="2400" dirty="0">
                <a:latin typeface="Times New Roman"/>
                <a:cs typeface="Times New Roman"/>
              </a:rPr>
              <a:t>Xu,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Brockman,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C.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McLeavey,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Sutskever,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"Robust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speech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recognition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via </a:t>
            </a:r>
            <a:r>
              <a:rPr sz="2400" b="1" dirty="0">
                <a:latin typeface="Times New Roman"/>
                <a:cs typeface="Times New Roman"/>
              </a:rPr>
              <a:t>large-scale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weak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supervision,"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Proc.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40th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Int.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Conf.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Mach.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Learn.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(ICML)</a:t>
            </a:r>
            <a:r>
              <a:rPr sz="2400" dirty="0">
                <a:latin typeface="Times New Roman"/>
                <a:cs typeface="Times New Roman"/>
              </a:rPr>
              <a:t>, 2023,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pp.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28492–28518. 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https://proceedings.mlr.press/v202/radford23a.html</a:t>
            </a:r>
            <a:endParaRPr sz="2400" dirty="0">
              <a:latin typeface="Times New Roman"/>
              <a:cs typeface="Times New Roman"/>
            </a:endParaRPr>
          </a:p>
          <a:p>
            <a:pPr marL="12700" marR="99695" indent="419734">
              <a:lnSpc>
                <a:spcPct val="100000"/>
              </a:lnSpc>
              <a:buFont typeface="Times New Roman"/>
              <a:buAutoNum type="arabicPlain"/>
              <a:tabLst>
                <a:tab pos="432434" algn="l"/>
              </a:tabLst>
            </a:pPr>
            <a:r>
              <a:rPr sz="2400" spc="-175" dirty="0">
                <a:latin typeface="Times New Roman"/>
                <a:cs typeface="Times New Roman"/>
              </a:rPr>
              <a:t>Y.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V.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Raghavan,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Mischler,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N.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Mesgarani,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"StyleTTS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2: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30" dirty="0">
                <a:latin typeface="Times New Roman"/>
                <a:cs typeface="Times New Roman"/>
              </a:rPr>
              <a:t>Towards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human-</a:t>
            </a:r>
            <a:r>
              <a:rPr sz="2400" b="1" dirty="0">
                <a:latin typeface="Times New Roman"/>
                <a:cs typeface="Times New Roman"/>
              </a:rPr>
              <a:t>level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text-</a:t>
            </a:r>
            <a:r>
              <a:rPr sz="2400" b="1" spc="-25" dirty="0">
                <a:latin typeface="Times New Roman"/>
                <a:cs typeface="Times New Roman"/>
              </a:rPr>
              <a:t>to- </a:t>
            </a:r>
            <a:r>
              <a:rPr sz="2400" b="1" dirty="0">
                <a:latin typeface="Times New Roman"/>
                <a:cs typeface="Times New Roman"/>
              </a:rPr>
              <a:t>speech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through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style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diffusion,"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Adv.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Neural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Inf.</a:t>
            </a:r>
            <a:r>
              <a:rPr sz="2400" i="1" spc="-5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Process.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Syst.</a:t>
            </a:r>
            <a:r>
              <a:rPr sz="2400" i="1" spc="-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(NeurIPS)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36,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2023,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pp.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19594–19621. 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https://proceedings.neurips.cc/paper_files/paper/2023/hash/3eaad2a0b62b5ed7a2e66c2188bb1449-Abstract-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Conference.html</a:t>
            </a:r>
            <a:endParaRPr sz="2400" dirty="0">
              <a:latin typeface="Times New Roman"/>
              <a:cs typeface="Times New Roman"/>
            </a:endParaRPr>
          </a:p>
          <a:p>
            <a:pPr marL="12700" marR="249554" indent="430530">
              <a:lnSpc>
                <a:spcPct val="100000"/>
              </a:lnSpc>
              <a:buFont typeface="Times New Roman"/>
              <a:buAutoNum type="arabicPlain" startAt="4"/>
              <a:tabLst>
                <a:tab pos="443230" algn="l"/>
              </a:tabLst>
            </a:pPr>
            <a:r>
              <a:rPr sz="2400" dirty="0">
                <a:latin typeface="Times New Roman"/>
                <a:cs typeface="Times New Roman"/>
              </a:rPr>
              <a:t>N.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Ratner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MacWhinney,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"FluencyBank: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A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new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resource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fluency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research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practice,"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J. </a:t>
            </a:r>
            <a:r>
              <a:rPr sz="2400" i="1" dirty="0">
                <a:latin typeface="Times New Roman"/>
                <a:cs typeface="Times New Roman"/>
              </a:rPr>
              <a:t>Fluency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Disord.</a:t>
            </a:r>
            <a:r>
              <a:rPr sz="2400" spc="-10" dirty="0">
                <a:latin typeface="Times New Roman"/>
                <a:cs typeface="Times New Roman"/>
              </a:rPr>
              <a:t>, </a:t>
            </a:r>
            <a:r>
              <a:rPr sz="2400" dirty="0">
                <a:latin typeface="Times New Roman"/>
                <a:cs typeface="Times New Roman"/>
              </a:rPr>
              <a:t>vol.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56,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pp.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69–80,</a:t>
            </a:r>
            <a:r>
              <a:rPr sz="2400" spc="-10" dirty="0">
                <a:latin typeface="Times New Roman"/>
                <a:cs typeface="Times New Roman"/>
              </a:rPr>
              <a:t> 2018. 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https://www.sciencedirect.com/science/article/abs/pii/S0094730X17300931</a:t>
            </a:r>
            <a:endParaRPr sz="2400" dirty="0">
              <a:latin typeface="Times New Roman"/>
              <a:cs typeface="Times New Roman"/>
            </a:endParaRPr>
          </a:p>
          <a:p>
            <a:pPr marL="12700" marR="64135" indent="430530">
              <a:lnSpc>
                <a:spcPct val="100000"/>
              </a:lnSpc>
              <a:buFont typeface="Times New Roman"/>
              <a:buAutoNum type="arabicPlain" startAt="4"/>
              <a:tabLst>
                <a:tab pos="443230" algn="l"/>
              </a:tabLst>
            </a:pPr>
            <a:r>
              <a:rPr sz="2400" dirty="0">
                <a:latin typeface="Times New Roman"/>
                <a:cs typeface="Times New Roman"/>
              </a:rPr>
              <a:t>N.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Reimers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Gurevych,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"Sentence-</a:t>
            </a:r>
            <a:r>
              <a:rPr sz="2400" b="1" spc="-50" dirty="0">
                <a:latin typeface="Times New Roman"/>
                <a:cs typeface="Times New Roman"/>
              </a:rPr>
              <a:t>BERT: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Sentence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embeddings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using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Siamese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75" dirty="0">
                <a:latin typeface="Times New Roman"/>
                <a:cs typeface="Times New Roman"/>
              </a:rPr>
              <a:t>BERT-</a:t>
            </a:r>
            <a:r>
              <a:rPr sz="2400" b="1" dirty="0">
                <a:latin typeface="Times New Roman"/>
                <a:cs typeface="Times New Roman"/>
              </a:rPr>
              <a:t>networks,"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i="1" dirty="0">
                <a:latin typeface="Times New Roman"/>
                <a:cs typeface="Times New Roman"/>
              </a:rPr>
              <a:t>Proc.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2019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Conf.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Empirical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Methods</a:t>
            </a:r>
            <a:r>
              <a:rPr sz="2400" i="1" spc="-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Natural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Lang.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Process.</a:t>
            </a:r>
            <a:r>
              <a:rPr sz="2400" i="1" spc="-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(EMNLP)</a:t>
            </a:r>
            <a:r>
              <a:rPr sz="2400" dirty="0">
                <a:latin typeface="Times New Roman"/>
                <a:cs typeface="Times New Roman"/>
              </a:rPr>
              <a:t>, 2019,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pp.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3982–3992. 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7"/>
              </a:rPr>
              <a:t>https://aclanthology.org/D19-1410/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 flipV="1">
            <a:off x="6254115" y="9028050"/>
            <a:ext cx="4413885" cy="45719"/>
            <a:chOff x="1090013" y="9073769"/>
            <a:chExt cx="2051685" cy="142875"/>
          </a:xfrm>
        </p:grpSpPr>
        <p:sp>
          <p:nvSpPr>
            <p:cNvPr id="11" name="object 11"/>
            <p:cNvSpPr/>
            <p:nvPr/>
          </p:nvSpPr>
          <p:spPr>
            <a:xfrm>
              <a:off x="1090018" y="9080418"/>
              <a:ext cx="2041525" cy="129539"/>
            </a:xfrm>
            <a:custGeom>
              <a:avLst/>
              <a:gdLst/>
              <a:ahLst/>
              <a:cxnLst/>
              <a:rect l="l" t="t" r="r" b="b"/>
              <a:pathLst>
                <a:path w="2041525" h="129540">
                  <a:moveTo>
                    <a:pt x="2040970" y="0"/>
                  </a:moveTo>
                  <a:lnTo>
                    <a:pt x="0" y="0"/>
                  </a:lnTo>
                  <a:lnTo>
                    <a:pt x="0" y="129301"/>
                  </a:lnTo>
                  <a:lnTo>
                    <a:pt x="2040970" y="129301"/>
                  </a:lnTo>
                  <a:lnTo>
                    <a:pt x="204097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90013" y="9073769"/>
              <a:ext cx="2051685" cy="142875"/>
            </a:xfrm>
            <a:custGeom>
              <a:avLst/>
              <a:gdLst/>
              <a:ahLst/>
              <a:cxnLst/>
              <a:rect l="l" t="t" r="r" b="b"/>
              <a:pathLst>
                <a:path w="2051685" h="142875">
                  <a:moveTo>
                    <a:pt x="2046705" y="0"/>
                  </a:moveTo>
                  <a:lnTo>
                    <a:pt x="4879" y="0"/>
                  </a:lnTo>
                  <a:lnTo>
                    <a:pt x="0" y="3426"/>
                  </a:lnTo>
                  <a:lnTo>
                    <a:pt x="0" y="139212"/>
                  </a:lnTo>
                  <a:lnTo>
                    <a:pt x="4841" y="142598"/>
                  </a:lnTo>
                  <a:lnTo>
                    <a:pt x="2046704" y="142598"/>
                  </a:lnTo>
                  <a:lnTo>
                    <a:pt x="2051463" y="139212"/>
                  </a:lnTo>
                  <a:lnTo>
                    <a:pt x="2051539" y="127388"/>
                  </a:lnTo>
                  <a:lnTo>
                    <a:pt x="21482" y="127388"/>
                  </a:lnTo>
                  <a:lnTo>
                    <a:pt x="21482" y="15209"/>
                  </a:lnTo>
                  <a:lnTo>
                    <a:pt x="2051539" y="15209"/>
                  </a:lnTo>
                  <a:lnTo>
                    <a:pt x="2051539" y="3426"/>
                  </a:lnTo>
                  <a:lnTo>
                    <a:pt x="2046705" y="0"/>
                  </a:lnTo>
                  <a:close/>
                </a:path>
                <a:path w="2051685" h="142875">
                  <a:moveTo>
                    <a:pt x="2051539" y="15209"/>
                  </a:moveTo>
                  <a:lnTo>
                    <a:pt x="2030055" y="15209"/>
                  </a:lnTo>
                  <a:lnTo>
                    <a:pt x="2030055" y="127388"/>
                  </a:lnTo>
                  <a:lnTo>
                    <a:pt x="2051539" y="127388"/>
                  </a:lnTo>
                  <a:lnTo>
                    <a:pt x="2051539" y="15209"/>
                  </a:lnTo>
                  <a:close/>
                </a:path>
              </a:pathLst>
            </a:custGeom>
            <a:solidFill>
              <a:srgbClr val="1C3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1160</Words>
  <Application>Microsoft Office PowerPoint</Application>
  <PresentationFormat>Custom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 MT</vt:lpstr>
      <vt:lpstr>Calibri</vt:lpstr>
      <vt:lpstr>Times New Roman</vt:lpstr>
      <vt:lpstr>Office Theme</vt:lpstr>
      <vt:lpstr>Steamroller</vt:lpstr>
      <vt:lpstr>Problem Statement</vt:lpstr>
      <vt:lpstr>PowerPoint Presentation</vt:lpstr>
      <vt:lpstr>Solution</vt:lpstr>
      <vt:lpstr>Technical Approach</vt:lpstr>
      <vt:lpstr>Feasibility</vt:lpstr>
      <vt:lpstr>Impacts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HACKOUTSAV_ppt_format.pdf</dc:title>
  <dc:creator>Aditya</dc:creator>
  <cp:lastModifiedBy>suryakaraditya@gmail.com</cp:lastModifiedBy>
  <cp:revision>4</cp:revision>
  <dcterms:created xsi:type="dcterms:W3CDTF">2026-05-01T10:57:15Z</dcterms:created>
  <dcterms:modified xsi:type="dcterms:W3CDTF">2026-06-02T12:49:58Z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2026-05-01T00:00:00Z</vt:filetime>
  </property>
  <property fmtid="{D5CDD505-2E9C-101B-9397-08002B2CF9AE}" pid="5" name="Producer">
    <vt:lpwstr>Microsoft® PowerPoint® 2021</vt:lpwstr>
  </property>
</Properties>
</file>